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65" r:id="rId15"/>
  </p:sldIdLst>
  <p:sldSz cx="18288000" cy="10287000"/>
  <p:notesSz cx="6858000" cy="9144000"/>
  <p:embeddedFontLst>
    <p:embeddedFont>
      <p:font typeface="둥근펜 Bold" charset="1" panose="020B0500000000000000"/>
      <p:regular r:id="rId16"/>
    </p:embeddedFont>
    <p:embeddedFont>
      <p:font typeface="둥근펜" charset="1" panose="020B050000000000000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EAEF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1028700" y="8585420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3388285" y="3635105"/>
            <a:ext cx="11874435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31"/>
              </a:lnSpc>
            </a:pPr>
            <a:r>
              <a:rPr lang="en-US" b="true" sz="9025">
                <a:solidFill>
                  <a:srgbClr val="000000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공장 전력 수요 예측과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388285" y="5130963"/>
            <a:ext cx="11874435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31"/>
              </a:lnSpc>
            </a:pPr>
            <a:r>
              <a:rPr lang="en-US" b="true" sz="9025">
                <a:solidFill>
                  <a:srgbClr val="0B5BDB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고사용량 조기 경보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57751" y="8859669"/>
            <a:ext cx="5864534" cy="503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49"/>
              </a:lnSpc>
            </a:pPr>
            <a:r>
              <a:rPr lang="en-US" b="true" sz="2806">
                <a:solidFill>
                  <a:srgbClr val="000000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제6회 K-인공지능 제조데이터 분석 경진대회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380160" y="8897769"/>
            <a:ext cx="2714904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9"/>
              </a:lnSpc>
            </a:pPr>
            <a:r>
              <a:rPr lang="en-US" b="true" sz="2599" spc="137">
                <a:solidFill>
                  <a:srgbClr val="000000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2026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EAEF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42875"/>
              <a:ext cx="4573672" cy="26369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66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4677309" y="4138631"/>
            <a:ext cx="8933383" cy="2009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889"/>
              </a:lnSpc>
              <a:spcBef>
                <a:spcPct val="0"/>
              </a:spcBef>
            </a:pPr>
            <a:r>
              <a:rPr lang="en-US" b="true" sz="13241" spc="119">
                <a:solidFill>
                  <a:srgbClr val="0B5BDB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THANK YOU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762194" y="9103983"/>
            <a:ext cx="4236194" cy="280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98"/>
              </a:lnSpc>
            </a:pPr>
            <a:r>
              <a:rPr lang="en-US" sz="2528" spc="80" b="true">
                <a:solidFill>
                  <a:srgbClr val="000000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hello@reallygreatsite.com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289612" y="9094458"/>
            <a:ext cx="1673566" cy="301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2"/>
              </a:lnSpc>
            </a:pPr>
            <a:r>
              <a:rPr lang="en-US" b="true" sz="2557" spc="81">
                <a:solidFill>
                  <a:srgbClr val="3160D8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EMAIL</a:t>
            </a:r>
          </a:p>
        </p:txBody>
      </p:sp>
      <p:sp>
        <p:nvSpPr>
          <p:cNvPr name="AutoShape 8" id="8"/>
          <p:cNvSpPr/>
          <p:nvPr/>
        </p:nvSpPr>
        <p:spPr>
          <a:xfrm>
            <a:off x="1028700" y="8585420"/>
            <a:ext cx="16230600" cy="0"/>
          </a:xfrm>
          <a:prstGeom prst="line">
            <a:avLst/>
          </a:prstGeom>
          <a:ln cap="flat" w="38100">
            <a:solidFill>
              <a:srgbClr val="79838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1232404" y="8850144"/>
            <a:ext cx="4311761" cy="5521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659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1시간 전에 고사용량을 맞힐 수 있는가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017520"/>
            <a:ext cx="36484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6B7078"/>
                </a:solidFill>
                <a:latin typeface="둥근펜"/>
              </a:rPr>
              <a:t>1시간 전 MAE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3566160"/>
            <a:ext cx="3648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5800" b="1">
                <a:solidFill>
                  <a:srgbClr val="0B5BDB"/>
                </a:solidFill>
                <a:latin typeface="둥근펜 Bold"/>
              </a:rPr>
              <a:t>7.86 kw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4800600"/>
            <a:ext cx="36484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MASE 0.215 · R² 0.958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3017520"/>
            <a:ext cx="36484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6B7078"/>
                </a:solidFill>
                <a:latin typeface="둥근펜"/>
              </a:rPr>
              <a:t>경보 정밀도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1224" y="3566160"/>
            <a:ext cx="3648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5800" b="1">
                <a:solidFill>
                  <a:srgbClr val="0B5BDB"/>
                </a:solidFill>
                <a:latin typeface="둥근펜 Bold"/>
              </a:rPr>
              <a:t>0.500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1224" y="4800600"/>
            <a:ext cx="36484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이전 0.386 -&gt; +29%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017520"/>
            <a:ext cx="36484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6B7078"/>
                </a:solidFill>
                <a:latin typeface="둥근펜"/>
              </a:rPr>
              <a:t>경보 F1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566160"/>
            <a:ext cx="3648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5800" b="1">
                <a:solidFill>
                  <a:srgbClr val="0B5BDB"/>
                </a:solidFill>
                <a:latin typeface="둥근펜 Bold"/>
              </a:rPr>
              <a:t>0.547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4800600"/>
            <a:ext cx="36484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이전 0.527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66776" y="3017520"/>
            <a:ext cx="36484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6B7078"/>
                </a:solidFill>
                <a:latin typeface="둥근펜"/>
              </a:rPr>
              <a:t>확인 부담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66776" y="3566160"/>
            <a:ext cx="3648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5800" b="1">
                <a:solidFill>
                  <a:srgbClr val="0B5BDB"/>
                </a:solidFill>
                <a:latin typeface="둥근펜 Bold"/>
              </a:rPr>
              <a:t>6.7 건/일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66776" y="4800600"/>
            <a:ext cx="36484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이전 11.8 -&gt; -43%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8448" y="630936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300" b="1">
                <a:solidFill>
                  <a:srgbClr val="000000"/>
                </a:solidFill>
                <a:latin typeface="둥근펜 Bold"/>
              </a:rPr>
              <a:t>· 설비 센서 없음  -  15분 수요·생산량·관측 기상·달력만 주어진다</a:t>
            </a:r>
          </a:p>
          <a:p>
            <a:pPr>
              <a:spcAft>
                <a:spcPts val="1800"/>
              </a:spcAft>
            </a:pPr>
            <a:r>
              <a:rPr sz="2300" b="1">
                <a:solidFill>
                  <a:srgbClr val="000000"/>
                </a:solidFill>
                <a:latin typeface="둥근펜 Bold"/>
              </a:rPr>
              <a:t>· 결정시점 t 에서 t+15/30/45/60분 수요를 직접 예측하고 고사용량 여부를 판정한다</a:t>
            </a:r>
          </a:p>
          <a:p>
            <a:pPr>
              <a:spcAft>
                <a:spcPts val="1800"/>
              </a:spcAft>
            </a:pPr>
            <a:r>
              <a:rPr sz="2300" b="1">
                <a:solidFill>
                  <a:srgbClr val="000000"/>
                </a:solidFill>
                <a:latin typeface="둥근펜 Bold"/>
              </a:rPr>
              <a:t>· 한전 요금적용전력은 15분 평균의 월 최대값 · KPX 감축요청은 1시간 전 통보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데이터  -  선박엔진용 볼트·너트 제조 1개 공장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298448" y="2926080"/>
          <a:ext cx="15691103" cy="340156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747129"/>
                <a:gridCol w="4918107"/>
                <a:gridCol w="7025867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변수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내용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처리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전력 15/30/45/60분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15분 평균 수요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사용  -  요금적용전력과 같은 단위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평균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4개 분값의 평균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제외  -  예측 타깃 포함(누수)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생산량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시간당 생산 수량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사용  -  가동/비가동 상태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기온·습도·풍속·강수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동시각 관측값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사용  -  예보 미사용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공장인원 / 인건비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생산량과 0.994 중복 / 상수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제외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298448" y="649224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2021-01-01~09-14 · 6,168행 × 18열 · 15분 수요로 재구성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합성 복제일 160/257일 발견 -&gt; 주 보고 구간을 clean(7~9월)으로 고정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kw 가 정확히 0 인 74 스텝은 계량 결측 의심으로 분리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비교가 가능하도록 평가를 먼저 고정했다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20040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0"/>
              </a:spcAft>
            </a:pPr>
            <a:r>
              <a:rPr sz="2600" b="1">
                <a:solidFill>
                  <a:srgbClr val="000000"/>
                </a:solidFill>
                <a:latin typeface="둥근펜 Bold"/>
              </a:rPr>
              <a:t>· Rolling-origin 5-fold. fold 내부를 TRAIN / CAL / TEST 로 시간순 분리</a:t>
            </a:r>
          </a:p>
          <a:p>
            <a:pPr>
              <a:spcAft>
                <a:spcPts val="2600"/>
              </a:spcAft>
            </a:pPr>
            <a:r>
              <a:rPr sz="2600" b="1">
                <a:solidFill>
                  <a:srgbClr val="000000"/>
                </a:solidFill>
                <a:latin typeface="둥근펜 Bold"/>
              </a:rPr>
              <a:t>· 임계·보정·가중은 TRAIN(+CAL)에서만 적합. TEST 는 적용만</a:t>
            </a:r>
          </a:p>
          <a:p>
            <a:pPr>
              <a:spcAft>
                <a:spcPts val="2600"/>
              </a:spcAft>
            </a:pPr>
            <a:r>
              <a:rPr sz="2600" b="1">
                <a:solidFill>
                  <a:srgbClr val="000000"/>
                </a:solidFill>
                <a:latin typeface="둥근펜 Bold"/>
              </a:rPr>
              <a:t>· 주 보고 구간 clean 7~9월  -  OOF 7,288 스텝, 고사용량 419 스텝(5.75%)</a:t>
            </a:r>
          </a:p>
          <a:p>
            <a:pPr>
              <a:spcAft>
                <a:spcPts val="2600"/>
              </a:spcAft>
            </a:pPr>
            <a:r>
              <a:rPr sz="2600" b="1">
                <a:solidFill>
                  <a:srgbClr val="000000"/>
                </a:solidFill>
                <a:latin typeface="둥근펜 Bold"/>
              </a:rPr>
              <a:t>· 수치 예측 지표와 경보 지표를 하나의 점수로 합치지 않는다</a:t>
            </a:r>
          </a:p>
          <a:p>
            <a:pPr>
              <a:spcAft>
                <a:spcPts val="2600"/>
              </a:spcAft>
            </a:pPr>
            <a:r>
              <a:rPr sz="2600" b="1">
                <a:solidFill>
                  <a:srgbClr val="000000"/>
                </a:solidFill>
                <a:latin typeface="둥근펜 Bold"/>
              </a:rPr>
              <a:t>· 정확도·ROC-AUC 는 불균형에서 과대평가되므로 근거로 쓰지 않는다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성능 평가 ① 예측 성능  -  표준 모델·표준 지표</a:t>
            </a:r>
          </a:p>
        </p:txBody>
      </p:sp>
      <p:pic>
        <p:nvPicPr>
          <p:cNvPr id="19" name="Picture 18" descr="37_eval1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693" y="2697480"/>
            <a:ext cx="12254612" cy="667511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98448" y="9189720"/>
            <a:ext cx="156911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회귀 15종 · 분류 13종을 동일 분할·동일 특성으로 비교. 지표는 MAE/RMSE/MAPE/sMAPE/MASE/R² 와 정밀도/재현율/F1/MCC/PR-AUC 만 사용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제출 모델은 MAE 1등이 아니다  -  고사용량 기준으로 골랐다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298448" y="3017520"/>
          <a:ext cx="15691101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46665"/>
                <a:gridCol w="2956294"/>
                <a:gridCol w="4093331"/>
                <a:gridCol w="4320738"/>
                <a:gridCol w="2274073"/>
              </a:tblGrid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선행(분)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범위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MAE 차 (ExtraTrees - 제출)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95% 신뢰구간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판정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15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전체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-0.257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[-0.339, -0.178]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개선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15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고사용량 구간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-0.313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[-0.876, +0.220]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차이 없음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30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전체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-0.798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[-1.036, -0.572]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개선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30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고사용량 구간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0.410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[-0.481, +1.198]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차이 없음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45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전체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-0.888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[-1.109, -0.668]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개선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45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고사용량 구간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0.714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[+0.043, +1.395]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악화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60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전체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-0.786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[-1.007, -0.578]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개선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60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고사용량 구간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1.237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[+0.515, +1.911]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악화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298448" y="740664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Extra Trees 는 전체 MAE 가 유의하게 낮지만 고사용량 MAE 는 45·60분에서 유의하게 높다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사전 선언한 조건  -  둘 다 악화 없을 때만 교체 -&gt; 교체하지 않았다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경보 모델  -  표준 분류 13종에서 Random Forest 선정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298448" y="2971800"/>
          <a:ext cx="15691101" cy="42793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373665"/>
                <a:gridCol w="2149466"/>
                <a:gridCol w="2149466"/>
                <a:gridCol w="1934519"/>
                <a:gridCol w="1934519"/>
                <a:gridCol w="2149466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모델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정밀도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재현율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F1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MCC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PR-AUC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0B5BDB"/>
                          </a:solidFill>
                          <a:latin typeface="둥근펜 Bold"/>
                        </a:rPr>
                        <a:t>Random Forest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0B5BDB"/>
                          </a:solidFill>
                          <a:latin typeface="둥근펜 Bold"/>
                        </a:rPr>
                        <a:t>0.378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0B5BDB"/>
                          </a:solidFill>
                          <a:latin typeface="둥근펜 Bold"/>
                        </a:rPr>
                        <a:t>0.792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0B5BDB"/>
                          </a:solidFill>
                          <a:latin typeface="둥근펜 Bold"/>
                        </a:rPr>
                        <a:t>0.512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0B5BDB"/>
                          </a:solidFill>
                          <a:latin typeface="둥근펜 Bold"/>
                        </a:rPr>
                        <a:t>0.510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0B5BDB"/>
                          </a:solidFill>
                          <a:latin typeface="둥근펜 Bold"/>
                        </a:rPr>
                        <a:t>0.357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Extra Trees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0.359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0.728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0.481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0.471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0.321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Gradient Boosting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0.358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0.647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0.460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0.439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0.353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Extra Trees + 클래스가중 (제출 모델)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0.342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0.671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0.453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0.436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0.307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HistGradientBoosting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0.316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0.754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0.445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0.443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0.303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Logistic Regression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0.332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0.578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0.421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0.393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0.227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k-NN (k=10)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0.249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0.711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0.369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0.365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0.195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MLP (64,32)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0.269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0.506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0.351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0.316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0.214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298448" y="758952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정확도는 쓰지 않는다  -  경보를 하나도 내지 않아도 0.943 이 나온다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클래스 가중·스태킹은 정밀도를 떨어뜨려 채택하지 않았다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경보 정밀도를 올린 방법  -  임계 거리 특성 + 통합 운영점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01752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① 임계까지의 거리를 직접 특성화  -  margin(kw-임계), 비율, 지연·램프, 당일 최대 margin</a:t>
            </a:r>
          </a:p>
          <a:p>
            <a:pPr>
              <a:spcAft>
                <a:spcPts val="18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② 피크 이력  -  최근 24시간·7일 피크 횟수, 마지막 피크 이후 경과</a:t>
            </a:r>
          </a:p>
          <a:p>
            <a:pPr>
              <a:spcAft>
                <a:spcPts val="18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③ 운영점을 폴드별이 아니라 전체 CAL 을 통합해 1개로 결정 (폴드 간 양성비율 3배 차이 흡수)</a:t>
            </a:r>
          </a:p>
          <a:p>
            <a:pPr>
              <a:spcAft>
                <a:spcPts val="18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④ 클래스 가중 미사용  -  문헌·자체 실험 모두 정밀도를 떨어뜨린다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298448" y="6035040"/>
          <a:ext cx="15691101" cy="320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061646"/>
                <a:gridCol w="3796234"/>
                <a:gridCol w="3796234"/>
                <a:gridCol w="3036987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FFFFFF"/>
                          </a:solidFill>
                          <a:latin typeface="둥근펜 Bold"/>
                        </a:rPr>
                        <a:t>지표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FFFFFF"/>
                          </a:solidFill>
                          <a:latin typeface="둥근펜 Bold"/>
                        </a:rPr>
                        <a:t>이전 구성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FFFFFF"/>
                          </a:solidFill>
                          <a:latin typeface="둥근펜 Bold"/>
                        </a:rPr>
                        <a:t>제안 구성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FFFFFF"/>
                          </a:solidFill>
                          <a:latin typeface="둥근펜 Bold"/>
                        </a:rPr>
                        <a:t>변화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정밀도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0.386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0.500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+29%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0">
                          <a:solidFill>
                            <a:srgbClr val="000000"/>
                          </a:solidFill>
                          <a:latin typeface="둥근펜"/>
                        </a:rPr>
                        <a:t>재현율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>
                          <a:solidFill>
                            <a:srgbClr val="000000"/>
                          </a:solidFill>
                          <a:latin typeface="둥근펜"/>
                        </a:rPr>
                        <a:t>0.828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>
                          <a:solidFill>
                            <a:srgbClr val="000000"/>
                          </a:solidFill>
                          <a:latin typeface="둥근펜"/>
                        </a:rPr>
                        <a:t>0.605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>
                          <a:solidFill>
                            <a:srgbClr val="000000"/>
                          </a:solidFill>
                          <a:latin typeface="둥근펜"/>
                        </a:rPr>
                        <a:t>-27%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F1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0.527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0.547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+4%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PR-AUC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0.507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0.513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+1%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경보 건수/일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11.825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6.701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-43%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0">
                          <a:solidFill>
                            <a:srgbClr val="000000"/>
                          </a:solidFill>
                          <a:latin typeface="둥근펜"/>
                        </a:rPr>
                        <a:t>사건 포착률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>
                          <a:solidFill>
                            <a:srgbClr val="000000"/>
                          </a:solidFill>
                          <a:latin typeface="둥근펜"/>
                        </a:rPr>
                        <a:t>0.903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>
                          <a:solidFill>
                            <a:srgbClr val="000000"/>
                          </a:solidFill>
                          <a:latin typeface="둥근펜"/>
                        </a:rPr>
                        <a:t>0.772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0">
                          <a:solidFill>
                            <a:srgbClr val="000000"/>
                          </a:solidFill>
                          <a:latin typeface="둥근펜"/>
                        </a:rPr>
                        <a:t>-15%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298448" y="9418320"/>
            <a:ext cx="156911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4개 호라이즌 평균, clean 구간. 사건 포착률은 낮아진다  -  경보량을 절반으로 줄인 대가다.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성능 평가 ② 제안 구성의 특장점</a:t>
            </a:r>
          </a:p>
        </p:txBody>
      </p:sp>
      <p:pic>
        <p:nvPicPr>
          <p:cNvPr id="19" name="Picture 18" descr="37_eval2_distin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8213" y="2697480"/>
            <a:ext cx="11731573" cy="66751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98448" y="9189720"/>
            <a:ext cx="156911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정밀도·확인부담·운영점·예측구간·신뢰도 등급·남은 여지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오류 분석  -  어디서 놓치고 어디서 헛경고하는가</a:t>
            </a:r>
          </a:p>
        </p:txBody>
      </p:sp>
      <p:pic>
        <p:nvPicPr>
          <p:cNvPr id="19" name="Picture 18" descr="30_timeseries_fn_f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349" y="2743200"/>
            <a:ext cx="11011301" cy="58521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98448" y="8823960"/>
            <a:ext cx="156911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평가 전용 30일. 빨강 X = 미탐, 파랑 △ = 오경보. 고사용량 구간 MAE 가 전체의 1.6배로 가장 취약하다.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운전 상태별 경보 성능  -  분모를 함께 본다</a:t>
            </a:r>
          </a:p>
        </p:txBody>
      </p:sp>
      <p:pic>
        <p:nvPicPr>
          <p:cNvPr id="19" name="Picture 18" descr="30_fnfp_by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3017520"/>
            <a:ext cx="15691104" cy="45930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98448" y="813816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둥근펜 Bold"/>
              </a:rPr>
              <a:t>· 저부하 구간은 평가기간 내 고사용량 스텝이 0건  -  성능이 좋은 것이 아니라 정의되지 않는다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둥근펜 Bold"/>
              </a:rPr>
              <a:t>· 전환 구간의 미탐율이 낮아 보이지만 표본 24건으로 전체와 구간이 겹친다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예측구간  -  불확실성을 숫자로 함께 낸다</a:t>
            </a:r>
          </a:p>
        </p:txBody>
      </p:sp>
      <p:pic>
        <p:nvPicPr>
          <p:cNvPr id="19" name="Picture 18" descr="23_baseline_fig2_forecast_inter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2926080"/>
            <a:ext cx="15691104" cy="477555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98448" y="822960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둥근펜 Bold"/>
              </a:rPr>
              <a:t>· 전체 적중률 0.872 · 고사용량 구간 0.556  -  목표 0.90 에 미달한다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둥근펜 Bold"/>
              </a:rPr>
              <a:t>· 신뢰도 등급 HIGH/MEDIUM/LOW 의 실제 오차가 4.7 / 10.3 / 13.6 kw 로 순서가 일치한다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현장 활용  -  사건당 한 번, 남은 준비시간과 함께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298448" y="3017520"/>
          <a:ext cx="15691102" cy="35661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94390"/>
                <a:gridCol w="6724758"/>
                <a:gridCol w="7471954"/>
              </a:tblGrid>
              <a:tr h="713232"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FFFFFF"/>
                          </a:solidFill>
                          <a:latin typeface="둥근펜 Bold"/>
                        </a:rPr>
                        <a:t>선행(분)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둥근펜 Bold"/>
                        </a:rPr>
                        <a:t>근거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둥근펜 Bold"/>
                        </a:rPr>
                        <a:t>역할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15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한전 수요시한(디멘드 타임) 15분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기존 제어기가 이미 커버하는 구간. h15 는 '기존 수준 재현' 비교군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60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KPX 수요자원 거래시장 감축요청 통보 리드타임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h60 = 제도상 표준 통보 리드타임과 일치. 본 시스템의 주 호라이즌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30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KPX 추가 감축요청 여유(30분)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minimum_lead_minutes=30 의 근거. 이보다 짧으면 제도적 조치 창이 없음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30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산업 수요관리 스케줄링의 표준 시간슬롯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30분 하한의 문헌적 보강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298448" y="758952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알림 내용은 셋뿐  -  초과 예상 시각 · 남은 준비시간(분) · 확신도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근거는 UI 가 아니라 수치다  -  포착한 사건 수와 확인 부담(건/일)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재현성, 그리고 아직 주장하지 않는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10896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400" b="1">
                <a:solidFill>
                  <a:srgbClr val="000000"/>
                </a:solidFill>
                <a:latin typeface="둥근펜 Bold"/>
              </a:rPr>
              <a:t>· 명령 한 줄로 전처리 -&gt; 학습 -&gt; 추론 -&gt; 결과 생성 · 시드 고정 · CPU 전용</a:t>
            </a:r>
          </a:p>
          <a:p>
            <a:pPr>
              <a:spcAft>
                <a:spcPts val="2000"/>
              </a:spcAft>
            </a:pPr>
            <a:r>
              <a:rPr sz="2400" b="1">
                <a:solidFill>
                  <a:srgbClr val="000000"/>
                </a:solidFill>
                <a:latin typeface="둥근펜 Bold"/>
              </a:rPr>
              <a:t>· 모든 수치는 analysis/tables 의 CSV 에서 읽어 이 장표와 보고서를 생성했다</a:t>
            </a:r>
          </a:p>
          <a:p>
            <a:pPr>
              <a:spcAft>
                <a:spcPts val="2000"/>
              </a:spcAft>
            </a:pPr>
            <a:r>
              <a:rPr sz="2400" b="1">
                <a:solidFill>
                  <a:srgbClr val="000000"/>
                </a:solidFill>
                <a:latin typeface="둥근펜 Bold"/>
              </a:rPr>
              <a:t>· 주장하지 않는 것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6B7078"/>
                </a:solidFill>
                <a:latin typeface="둥근펜"/>
              </a:rPr>
              <a:t>     - 절감액(원)  -  계약전력·요금 조건 미확인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6B7078"/>
                </a:solidFill>
                <a:latin typeface="둥근펜"/>
              </a:rPr>
              <a:t>     - 설비 단위 원인·조치  -  설비 식별자 없음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6B7078"/>
                </a:solidFill>
                <a:latin typeface="둥근펜"/>
              </a:rPr>
              <a:t>     - 고사용량 구간 예측구간 적중률 0.56  -  목표 0.90 미달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6B7078"/>
                </a:solidFill>
                <a:latin typeface="둥근펜"/>
              </a:rPr>
              <a:t>     - 기각한 가설 9건을 보고서에 그대로 남겼다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DAHXaJRAMhE</dc:identifier>
  <dcterms:modified xsi:type="dcterms:W3CDTF">2011-08-01T06:04:30Z</dcterms:modified>
  <cp:revision>1</cp:revision>
  <dc:title>검은색과 파란색 미니멀한 프레젠테이션 발표</dc:title>
</cp:coreProperties>
</file>