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0972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센서가 부족한 공장의 전력 고사용량 조기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555A60"/>
                </a:solidFill>
                <a:latin typeface="맑은 고딕"/>
              </a:rPr>
              <a:t>15분 수요·생산량·날씨·달력만으로 1시간 뒤 수요를 예측하고,</a:t>
            </a:r>
          </a:p>
          <a:p>
            <a:r>
              <a:rPr sz="1700">
                <a:solidFill>
                  <a:srgbClr val="555A60"/>
                </a:solidFill>
                <a:latin typeface="맑은 고딕"/>
              </a:rPr>
              <a:t>조치 가능한 선행시간 안에 고사용량 발생을 판단한다.</a:t>
            </a:r>
          </a:p>
          <a:p>
            <a:r>
              <a:rPr sz="1300">
                <a:solidFill>
                  <a:srgbClr val="1F5C99"/>
                </a:solidFill>
                <a:latin typeface="맑은 고딕"/>
              </a:rPr>
              <a:t>제6회 K-인공지능 제조데이터 분석 경진대회 — 주제 ⑤ 자원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776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핵심 결과 — h60 MAE 8.773 → 7.790 kw (-11.2%), 고사용량 구간 MAE 20.878 → 15.649 kw (-25.0%)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무엇을 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설비 센서가 없는 공장. 가진 것은 15분 수요·생산량·관측 날씨·달력뿐이다.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주(main) — 시계열 패턴 정밀 판단: 결정시점 t 에서 t+15/30/45/60분 수요를 각각 직접 예측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15분은 한전 요금적용전력의 측정 단위다. 해상도를 임의로 고른 것이 아니다.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부(sub) — 조치 가능한 선행시간 확보: 고사용량 도달 전에 알린다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KPX 수요자원 거래시장은 감축요청을 60분 전 통보하고 부족분을 30분 내 추가 요청한다 → h60 이 제도상 표준 리드타임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부(sub·의사결정) — 판단이 서지 않을 때 그 사실과 부족한 정보의 종류를 말한다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</a:rPr>
              <a:t>■ 하지 않는 것</a:t>
            </a:r>
          </a:p>
          <a:p>
            <a:pPr lvl="1">
              <a:spcAft>
                <a:spcPts val="500"/>
              </a:spcAft>
            </a:pPr>
            <a:r>
              <a:rPr sz="1350" b="0">
                <a:solidFill>
                  <a:srgbClr val="555A60"/>
                </a:solidFill>
                <a:latin typeface="맑은 고딕"/>
              </a:rPr>
              <a:t>– 설비 단위 조치 지시 · 고장 심각도 순위 · 절감액(원) 주장 — 근거 데이터가 없다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데이터 이해 — 업종과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선박엔진용 볼트·너트 제조 1개 공장, 2021-01-01~09-14, 6,168행×18열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변수 구성: 전력 15/30/45/60분(15분 수요), 평균, 생산량, 기온·풍속·습도·강수, 전기요금(계절), 달력, 공장인원, 인건비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제외한 변수와 이유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'평균' = 같은 시간 4개 분값의 평균 → 타깃을 포함한다(누수). 전면 제외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'공장인원' = 생산량과 Spearman 0.994 중복 / '인건비' = 고유값 2개 사실상 상수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복구한 결함: 2021-07-13·07-15 의 '시간' 열이 전력값으로 덮여 있었다 → 행 순서로 재구성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확인한 결측 의심: kw 정확히 0 인 74 스텝(08-28 25, 08-29 47, 09-08 2). 정지 중 기저부하는 22 kw 수준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데이터 진단 — 합성 증강 중복일을 찾아냈다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파일명의 'augumented' 가 실제로 무엇인지 하루 단위 전력 프로파일 해시로 확인했다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전체 기간: 257일 중 160일이 96스텝 전력 프로파일이 완전히 동일 — 45개 그룹, 잉여 115일 (전체의 62.3%)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분석 구간(2021-07-01 이후): 76일 중 중복 2일(1개 그룹)뿐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왜 중요한가 — 중복일이 같은 fold 의 TRAIN 과 TEST 양쪽에 들어가면 성능이 부풀려진다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429000"/>
          <a:ext cx="10058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fold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시작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끝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TRAIN/TEST 걸친 중복그룹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TEST 전부 clean 구간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2021-02-18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2021-04-01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2021-05-12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2021-06-23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2021-06-23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2021-08-04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False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2021-08-04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2021-09-14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→ fold 0·2 는 중복일이 양쪽에 걸쳐 평가가 오염된다. fold 4(8/4~9/14)만 0개. 주 보고 구간을 clean_Jul_Sep 으로 고정한 이유다.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제1장 · 라벨 정의 — '직전 30일 p95' 는 어디서 왔는가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한전 요금적용전력 = 15분 평균전력의 월 최대 1점(검침 당월 포함 직전 12개월 중 7~9월·12~2월분 최대)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15분 해상도 — 과금 측정 단위와 동일. 임의 선택 아님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직전 ~30일 창 — 검침월(과금 주기)과 정합. 계절·생산량 변화를 따라간다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p95 는 과금 규칙이 아니라 모델링 선택이다 — '월 최대 1점'을 라벨로 쓰면 월당 양성 1건으로 학습·평가가 불가능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분석 구간 2021-07~09 는 연간 기본요금을 결정하는 하계 피크월에 해당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24612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291"/>
                <a:gridCol w="1515291"/>
                <a:gridCol w="1515291"/>
                <a:gridCol w="1515291"/>
                <a:gridCol w="1515291"/>
                <a:gridCol w="1515291"/>
                <a:gridCol w="1515294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피크 스텝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발생률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사건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임계 평균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임계 표준편차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일평균 변화(kw)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trailing14d_p95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179.023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2324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0.100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837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171.015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6.339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0.629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179.070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trailing30d_p97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736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0.032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363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183.410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7.533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0.461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trailing60d_p95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178.778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trailing90d_p95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1322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0.057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559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178.230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4.176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0.227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fixed_187kw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187.000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창이 짧을수록 임계가 흔들리고(14일 일변화 0.839 kw) 길수록 둔해진다(90일 0.227). 30일은 적응속도와 안정성의 절충이며 과금 주기와 맞는 지점이다 — 최적화 결과가 아니라 선택이다.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평가 규약 — 비교가 가능하도록 먼저 고정했다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모든 변형은 같은 fold·같은 적합집합·같은 TEST 에서만 비교한다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Rolling-origin (TimeSeriesSplit 5 fold). fold 내부를 TRAIN / CAL(앞 구간의 뒤 20%) / TEST 로 분리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임계·보정계수·가중치·스케일러·OOD 컷은 전부 TRAIN(+CAL)에서만 적합. TEST 는 적용만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랜덤 분할 금지. 시간 역행 금지. 타깃 파생 변수 금지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주 보고 구간: clean_Jul_Sep (2021-07-01 ~ 09-14, 7,289 OOF 스텝, 고사용량 419 스텝)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두 축을 끝까지 섞지 않는다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수치 예측 성능 = MAE / RMSE / 고사용량 구간 MAE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경고 성능 = FN · FP · F1 (분모를 항상 같이 적는다)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사전 선언한 채택 규칙으로만 판정한다. 돌려본 뒤 기준을 바꾸지 않는다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모델 비교 — 기준선 3종 + 점진 개선 6종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전 구간(Feb~Sep) OOF 평균. 기준선을 포함해 2개 이상 모델을 같은 조건에서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 (h60)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RMSE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 변화%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 변화%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직전값 지속(기준선)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28.142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36.592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82.689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104.473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Ridge(기준선)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16.035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23.232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36.407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69.621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103.434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RandomForest(기준선)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-17.813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HGB 기본 ★v1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15.816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17.896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잔차타깃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13.489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-8.244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주기 인코딩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8.920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15.337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18.931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-5.646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5.784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극단가중(SERA)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16.568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-18.113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 휴무·재가동 특성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9.438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15.564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17.906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-0.162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0.054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A5 전체 결합 ★최종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13.619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-14.879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-23.902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트리 기반을 쓴 이유: 표본 7천 스텝·CPU 전용 환경에서 재현 가능하고, 계단형 레벨 변화(가동/정지)를 분할로 바로 처리한다. 심층 모델은 쓰지 않았다.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제2장 · 최종 성능 — clean 구간, 네 호라이즌 전부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A5(잔차타깃 + 주기인코딩 + 극단가중 + 휴무·재가동 특성) vs A0(v1 기본)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607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291"/>
                <a:gridCol w="1515291"/>
                <a:gridCol w="1515291"/>
                <a:gridCol w="1515291"/>
                <a:gridCol w="1515291"/>
                <a:gridCol w="1515291"/>
                <a:gridCol w="1515294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고사용량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MAE 개선%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고사용량 MAE 개선%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-10.563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-24.433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7.379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6.950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18.631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13.482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-5.802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-27.636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7.466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14.724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-10.520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-26.426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8.773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7.790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20.878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15.649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-11.201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-25.045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474720"/>
          <a:ext cx="1060704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  <a:gridCol w="1767840"/>
                <a:gridCol w="1767840"/>
                <a:gridCol w="176784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MAE 차(A5-A0)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95% CI 하한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95% CI 상한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개선 유의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-3.249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-4.318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-2.235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-5.149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-6.462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-3.925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-5.288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-6.882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-3.903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-1.848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-0.288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peak_only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-5.229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-6.468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-3.943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True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일 단위 블록 부트스트랩 1,000회(시간 상관 보정). 8개 비교 전부 CI 상한 &lt; 0 — 우연이 아니다.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오류분석 — 어디서 잘 되고 어디서 깨지는가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전체 평균이 아니라 조건별로 쪼갠다 (h60)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  <a:gridCol w="1767840"/>
                <a:gridCol w="1767840"/>
                <a:gridCol w="176784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표본 수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A0 전체대비 배율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A5 전체대비 배율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12~18시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4,995.000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고사용량 구간만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1,135.000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17.468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12.972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1.848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1.612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급변동 상위10%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2,000.000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비가동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7,988.000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9.198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6.828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0.849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재가동 1시간 이내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561.000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19,980.000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9.454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8.047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주말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5,756.000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6.940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가장 취약한 조건은 고사용량 구간 자체(전체의 1.85배 → 1.61배). A5 는 모든 조건에서 오차를 낮췄고, 비가동·주말에서 특히 크게 줄였다(휴무·재가동 특성 효과).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제3장 · OOD — '포기 신호' 가 아니라 '취약조건 지도'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처음 보는 입력 조합(마할라노비스 거리, TRAIN p99 컷)을 어떻게 쓸 것인가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4206240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거리 십분위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평균 거리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7.940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5.410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8.130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6.920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7.760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9.370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7.910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11.670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23.240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10.100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120640" y="15544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① 지시력은 있다 — 거리 최하위 십분위 MAE 6.44 → 최상위 10.10 kw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② 그러나 포기 기준으로 쓰기엔 약하다 — OOD 판정은 전체의 0.8%뿐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③ 답은 '모델을 좋게 만드는 것' 이었다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OOD 구간 MAE / 정상 구간 MAE = 1.69(A0) → 1.55(A5)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④ OOD 구간을 일부러 더 보게 가중(A6)하면 오히려 악화 — 기각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OOD 구간 MAE 차 +1.099 kw, 95% CI [0.017, 2.541] (0 미포함, 악화 방향)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0392B"/>
                </a:solidFill>
                <a:latin typeface="맑은 고딕"/>
              </a:rPr>
              <a:t>결론: OOD 는 '어디가 약한지' 를 보여주는 진단 도구다. 그 구간을 피하거나 억지로 가중하는 것은 검증 결과 효과가 없었다. 공개한다.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제4장 · 현장 활용 — 사건당 한 번, 남은 준비시간과 함께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선행시간이 제도적으로 의미 있는 길이여야 한다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6304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선행(분)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제도·문헌 근거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본 시스템에서의 역할</a:t>
                      </a:r>
                    </a:p>
                  </a:txBody>
                  <a:tcPr>
                    <a:solidFill>
                      <a:srgbClr val="1F5C9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한전 수요시한(디멘드 타임) 15분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기존 제어기가 이미 커버하는 구간. h15 는 '기존 수준 재현' 비교군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KPX 수요자원 거래시장 감축요청 통보 리드타임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h60 = 제도상 표준 통보 리드타임과 일치. 본 시스템의 주 호라이즌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KPX 추가 감축요청 여유(30분)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minimum_lead_minutes=30 의 근거. 이보다 짧으면 제도적 조치 창이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산업 수요관리 스케줄링의 표준 시간슬롯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30분 하한의 문헌적 보강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알림 설계: 다단계 경보를 성과로 내세우지 않는다. 사건당 1건, 내용은 세 가지뿐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① 고사용량이 처음 시작될 것으로 보이는 시각  ② 지금부터 남은 준비시간(분)  ③ 확신도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근거는 UI 가 아니라 수치다 — 제때 잡은 사건 수, 헛경고로 생기는 확인 부담(분/일)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맑은 고딕"/>
              </a:rPr>
              <a:t>설비 단위 조치나 고장 심각도 순위는 제시하지 않는다. 설비 식별자·고장 이력이 데이터에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제5장 · 차별성 — 성능·오류분석과 연결되는 것만 주장한다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① 데이터 자체의 결함을 찾아 평가 설계로 연결했다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합성 중복일 160일(45그룹)이 fold 0·2 의 TRAIN/TEST 에 걸쳐 있음을 확인 → 주 보고 구간을 clean 으로 고정. 부풀려진 성능을 쓰지 않았다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② 라벨 정의를 과금 제도에 묶었다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15분 = 요금적용전력 측정 단위, 30일 = 검침월. p95 가 모델링 선택임을 숨기지 않고 민감도표로 공개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③ 고사용량 구간을 직접 겨냥한 학습으로 그 구간 오차를 네 호라이즌 모두 25% 안팎 줄였다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h60 고사용량 MAE 20.88 → 15.65 kw. 블록 부트스트랩 CI 로 유의성 확인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  <a:latin typeface="맑은 고딕"/>
              </a:rPr>
              <a:t>■ ④ 실패한 시도를 지웠다가 아니라 남겼다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555A60"/>
                </a:solidFill>
                <a:latin typeface="맑은 고딕"/>
              </a:rPr>
              <a:t>– 운전상태 3분할 모델(V4) 기각 · 2단계 경보 우위 주장 철회 · OOD 가중(A6) 기각 · 외부 공공데이터 게이트 0/20 선택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제6장 · 재현성 · 그리고 아직 주장할 수 없는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명령 한 줄로 전처리→학습→추론→결과 생성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python3 analysis/final_baseline/run_baseline.py   (seed 20260926 고정, CPU 전용)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학습/추론 분리 — joblib 아티팩트 + inference.py 로 학습 코드 없이 예측 생성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requirements.txt · README · 수용테스트 포함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1A1A1A"/>
                </a:solidFill>
                <a:latin typeface="맑은 고딕"/>
              </a:rPr>
              <a:t>■ 아직 검증되지 않아 주장하지 않는 것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절감액(원) — 계약전력·요금 조건 미확인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설비 단위 원인·조치 — 설비 식별자 없음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고사용량 구간 예측구간 적중률 0.234 — 목표 0.90 에 크게 미달. 공개하고 다음 과제로 둔다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A60"/>
                </a:solidFill>
                <a:latin typeface="맑은 고딕"/>
              </a:rPr>
              <a:t>– 최초 시작 시각 예측 — 설계만 있고 검증 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5C99"/>
                </a:solidFill>
                <a:latin typeface="맑은 고딕"/>
              </a:rPr>
              <a:t>모든 수치는 analysis/tables/*.csv 에서 직접 읽어 이 장표를 생성했다. 손으로 옮겨 적지 않았다.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예측값과 보정된 예측구간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analysis/figures/23_baseline_fig2_forecast_interval.png</a:t>
            </a:r>
          </a:p>
        </p:txBody>
      </p:sp>
      <p:pic>
        <p:nvPicPr>
          <p:cNvPr id="5" name="Picture 4" descr="23_baseline_fig2_forecast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신뢰도 밴드별 오차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analysis/figures/23_baseline_fig3_reliability_bands.png</a:t>
            </a:r>
          </a:p>
        </p:txBody>
      </p:sp>
      <p:pic>
        <p:nvPicPr>
          <p:cNvPr id="5" name="Picture 4" descr="23_baseline_fig3_reliability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54419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평가 전용 30일 실측·예측·미탐·오경보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analysis/figures/30_timeseries_fn_fp.png</a:t>
            </a:r>
          </a:p>
        </p:txBody>
      </p:sp>
      <p:pic>
        <p:nvPicPr>
          <p:cNvPr id="5" name="Picture 4" descr="30_timeseries_fn_f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558871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운전상태별 경고 성능(분모 병기)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analysis/figures/30_fnfp_by_state.png</a:t>
            </a:r>
          </a:p>
        </p:txBody>
      </p:sp>
      <p:pic>
        <p:nvPicPr>
          <p:cNvPr id="5" name="Picture 4" descr="30_fnfp_b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0780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부록 · 고사용량 초과확률의 보정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A60"/>
                </a:solidFill>
                <a:latin typeface="맑은 고딕"/>
              </a:rPr>
              <a:t>analysis/figures/28_peak_probability.png</a:t>
            </a:r>
          </a:p>
        </p:txBody>
      </p:sp>
      <p:pic>
        <p:nvPicPr>
          <p:cNvPr id="5" name="Picture 4" descr="28_peak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36415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