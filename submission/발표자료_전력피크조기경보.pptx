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11111"/>
                </a:solidFill>
                <a:latin typeface="맑은 고딕"/>
              </a:rPr>
              <a:t>공장 전력 수요 예측과 고사용량 조기 경보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0757A"/>
                </a:solidFill>
                <a:latin typeface="맑은 고딕"/>
              </a:rPr>
              <a:t>15분 수요·생산량·기상·달력만으로 1시간 뒤를 예측한다.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70757A"/>
                </a:solidFill>
                <a:latin typeface="맑은 고딕"/>
              </a:rPr>
              <a:t>제6회 K-인공지능 제조데이터 분석 경진대회 · 주제 ⑤ 자원 최적화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39"/>
            <a:ext cx="3840480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MAE (1시간 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36008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4E79"/>
                </a:solidFill>
                <a:latin typeface="맑은 고딕"/>
              </a:rPr>
              <a:t>7.86 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2239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MASE 0.215 · MAPE 11.3%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1850" y="434340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1850" y="4636008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4E79"/>
                </a:solidFill>
                <a:latin typeface="맑은 고딕"/>
              </a:rPr>
              <a:t>0.958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1850" y="542239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Naive 대비 MAE −53%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3620" y="434340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경보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3620" y="4636008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4E79"/>
                </a:solidFill>
                <a:latin typeface="맑은 고딕"/>
              </a:rPr>
              <a:t>0.478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3620" y="542239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PR-AUC 0.396 · 재현율 0.776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5389" y="434340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평균 선행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5389" y="4636008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4E79"/>
                </a:solidFill>
                <a:latin typeface="맑은 고딕"/>
              </a:rPr>
              <a:t>43 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5389" y="542239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KPX 통보 기준 60분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1시간 전에, 고사용량을 맞힐 수 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설비 센서 없음. 15분 수요·생산량·관측 기상·달력만 주어진다.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11111"/>
                </a:solidFill>
                <a:latin typeface="맑은 고딕"/>
              </a:rPr>
              <a:t>· 예측: 결정시점 t 에서 t+15/30/45/60분 수요를 각각 직접 예측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11111"/>
                </a:solidFill>
                <a:latin typeface="맑은 고딕"/>
              </a:rPr>
              <a:t>· 경보: 직전 30일 p95 를 넘을지 판정. 한전 요금적용전력이 15분 평균의 월 최대값이기 때문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11111"/>
                </a:solidFill>
                <a:latin typeface="맑은 고딕"/>
              </a:rPr>
              <a:t>· 선행: KPX 수요자원 거래시장은 감축요청을 1시간 전에 통보한다 → h60 이 기준</a:t>
            </a: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11111"/>
                </a:solidFill>
                <a:latin typeface="맑은 고딕"/>
              </a:rPr>
              <a:t>· 하지 않는 것: 설비 단위 조치 지시 · 고장 심각도 · 절감액(원)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analysis/tables/31_leadtime_basis.csv · 31_tariff_label_basis.csv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데이터 — 선박엔진용 볼트·너트 제조 1개 공장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2021-01-01 ~ 09-14 · 6,168행 × 18열 · 15분 수요로 재구성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927078" cy="26883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8239"/>
                <a:gridCol w="3440006"/>
                <a:gridCol w="5058833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변수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전력 15/30/45/60분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15분 평균 수요 4개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사용 — 한전 요금적용전력과 같은 단위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평균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같은 시간 4개 분값의 평균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제외 — 예측 타깃을 포함(누수)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생산량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시간당 생산 수량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사용 — 가동/비가동 상태의 근거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기온·습도·풍속·강수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동시각 관측값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사용 — 예보는 쓰지 않음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공장인원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생산량과 Spearman 0.994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제외 — 중복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인건비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고유값 2개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제외 — 사실상 상수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48056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11111"/>
                </a:solidFill>
                <a:latin typeface="맑은 고딕"/>
              </a:rPr>
              <a:t>· 2021-07-13·07-15 의 '시간' 열이 전력값으로 덮여 있어 행 순서로 복구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11111"/>
                </a:solidFill>
                <a:latin typeface="맑은 고딕"/>
              </a:rPr>
              <a:t>· kw 가 정확히 0 인 74 스텝은 계량 결측 의심으로 분리 표기(보간하지 않음)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비교가 가능하도록 평가를 먼저 고정했다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모든 모델이 같은 분할·같은 적합집합·같은 지표를 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>
                <a:solidFill>
                  <a:srgbClr val="111111"/>
                </a:solidFill>
                <a:latin typeface="맑은 고딕"/>
              </a:rPr>
              <a:t>· Rolling-origin 5-fold. fold 내부를 TRAIN / CAL / TEST 로 시간순 분리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111111"/>
                </a:solidFill>
                <a:latin typeface="맑은 고딕"/>
              </a:rPr>
              <a:t>· 임계·보정·가중·스케일러는 TRAIN(+CAL)에서만 적합. TEST 는 적용만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111111"/>
                </a:solidFill>
                <a:latin typeface="맑은 고딕"/>
              </a:rPr>
              <a:t>· 주 보고 구간 clean_Jul_Sep — OOF 7,288 스텝, 고사용량 419 스텝(5.75%)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111111"/>
                </a:solidFill>
                <a:latin typeface="맑은 고딕"/>
              </a:rPr>
              <a:t>· 수치 예측 지표와 경보 지표를 한 점수로 합치지 않는다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4206240"/>
          <a:ext cx="10927079" cy="11521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9187"/>
                <a:gridCol w="945789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과제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사용 지표 (표준)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수치 예측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MAE · RMSE · MAPE · sMAPE · MASE · R²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이진 경보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Accuracy · Precision · Recall · F1 · Balanced Acc. · MCC · ROC-AUC · PR-AUC · Brier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표준 회귀 모델 15종 비교 — 1시간 전 예측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clean 구간 OOF 7,288 스텝 · 동일 특성·동일 분할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927075" cy="411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63102"/>
                <a:gridCol w="1054367"/>
                <a:gridCol w="1054367"/>
                <a:gridCol w="1150218"/>
                <a:gridCol w="1150218"/>
                <a:gridCol w="958515"/>
                <a:gridCol w="958515"/>
                <a:gridCol w="1437773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MAE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RMSE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MAPE 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sMAPE 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MASE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R²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고사용량 MAE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Extra Trees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7.250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12.114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9.302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10.160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0.198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0.961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16.922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HistGradientBoosting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7.610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12.053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10.230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11.299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0.208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0.961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18.287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7.651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12.541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10.036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10.828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0.209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0.958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17.467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HistGBM + 극단가중 (제출 모델)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7.862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12.572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11.297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11.934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0.215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0.958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15.240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MLP (64,32)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9.753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14.999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13.587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14.750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0.267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0.940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22.412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Decision Tree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9.833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17.162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13.457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12.698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0.269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0.922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18.084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k-NN (k=10)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10.313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16.506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13.197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13.524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0.282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0.928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20.912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Gradient Boosting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10.394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15.560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19.048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16.843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0.284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0.936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21.342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SVR (RBF)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10.515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17.562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12.047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13.047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0.288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0.918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25.942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ElasticNet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15.663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21.755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26.411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25.100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0.429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0.874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32.793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Lasso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15.684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21.766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26.580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25.232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0.429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0.874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32.678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Ridge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15.723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21.792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26.743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25.367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0.430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0.874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32.664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Linear Regression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15.723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21.792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26.747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25.370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0.430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0.874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32.662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Naive (직전값)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16.827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28.001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16.364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15.614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0.460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0.792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31.437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analysis/tables/34_standard_benchmark_regression_clean.csv · Seasonal naive(24h) 는 MASE 1.208 로 표에서 생략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제출 모델은 MAE 1등이 아니다 — 고사용량 구간을 기준으로 골랐다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전체 MAE 만 보면 Extra Trees, 고사용량 MAE 로 보면 HistGBM+극단가중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927077" cy="26334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52876"/>
                <a:gridCol w="2081348"/>
                <a:gridCol w="2705753"/>
                <a:gridCol w="3122022"/>
                <a:gridCol w="1665078"/>
              </a:tblGrid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선행(분)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MAE 차 (ET − HistGBM)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95% 신뢰구간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-0.257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[-0.339, -0.178]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개선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고사용량 구간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-0.313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[-0.876, +0.220]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차이 없음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-0.798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[-1.036, -0.572]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개선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고사용량 구간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0.410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[-0.481, +1.198]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차이 없음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-0.888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[-1.109, -0.668]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개선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고사용량 구간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0.714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[+0.043, +1.395]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악화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-0.786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[-1.007, -0.578]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개선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고사용량 구간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1.237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[+0.515, +1.911]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악화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2628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Extra Trees 는 전체 MAE 가 유의하게 낮지만 고사용량 MAE 는 h45·h60 에서 유의하게 높다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사전에 선언한 조건 — 전체·고사용량 둘 다 악화 없을 때만 교체 → 교체하지 않았다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analysis/tables/33_select_regression_bootstrap.csv · 일 단위 블록 부트스트랩 1,000회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표준 분류 모델 13종 비교 — 고사용량 경보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clean 구간 7,288 스텝 · 양성 비율 5.75% · 임계는 CAL 에서 F1 최대로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927076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6986"/>
                <a:gridCol w="895662"/>
                <a:gridCol w="895662"/>
                <a:gridCol w="895662"/>
                <a:gridCol w="895662"/>
                <a:gridCol w="1074794"/>
                <a:gridCol w="806096"/>
                <a:gridCol w="806096"/>
                <a:gridCol w="985228"/>
                <a:gridCol w="98522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정밀도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재현율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특이도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균형정확도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MCC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ROC-AUC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70757A"/>
                          </a:solidFill>
                          <a:latin typeface="맑은 고딕"/>
                        </a:rPr>
                        <a:t>PR-AUC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0.913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0.378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0.792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0.921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0.856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0.512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0.510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0.934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F4E79"/>
                          </a:solidFill>
                          <a:latin typeface="맑은 고딕"/>
                        </a:rPr>
                        <a:t>0.357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Extra Trees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0.910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0.359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0.728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0.921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0.824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0.481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0.471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0.926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0.321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Gradient Boosting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0.913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0.358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0.647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0.929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0.788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0.460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0.439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0.921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0.353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Extra Trees + 클래스가중 (제출 모델)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0.907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0.342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0.671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0.921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0.796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0.453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0.436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0.922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0.307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HistGradientBoosting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0.892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0.316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0.754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0.827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0.445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0.443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0.905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0.303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Logistic Regression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0.909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0.332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0.578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0.929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0.753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0.421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0.393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0.880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0.227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k-NN (k=10)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0.860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0.249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0.711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0.869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0.790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0.369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0.365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0.792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0.195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MLP (64,32)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0.893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0.269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0.506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0.916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0.711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0.351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0.316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0.868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0.214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Gaussian Naive Bayes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0.857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0.232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0.642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0.870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0.756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0.341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0.326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0.851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0.214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Decision Tree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0.865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0.234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0.592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0.882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0.737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0.335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0.313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0.776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0.212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Naive rule (현재값&gt;임계)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0.914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0.298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0.363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0.948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0.655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0.327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0.283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0.849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0.256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SVM (RBF)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0.802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0.176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0.661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0.811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0.736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0.278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0.267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0.814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0.210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Majority class (전부 정상)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0.057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0.057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0.000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0.500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0.109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0.000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nan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</a:rPr>
                        <a:t>0.057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analysis/tables/34_standard_benchmark_alert_clean.csv · 정확도는 불균형에서 의미가 작다(전부 정상 예측 시 0.943). F1·MCC 로 읽는다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경보 모델은 Random Forest — F1·MCC 동시 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클래스 가중·스태킹은 오히려 나빠져 쓰지 않는다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927074" cy="2176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82450"/>
                <a:gridCol w="1155748"/>
                <a:gridCol w="1155748"/>
                <a:gridCol w="1260816"/>
                <a:gridCol w="1260816"/>
                <a:gridCol w="1155748"/>
                <a:gridCol w="1155748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MCC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정밀도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재현율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오경보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70757A"/>
                          </a:solidFill>
                          <a:latin typeface="맑은 고딕"/>
                        </a:rPr>
                        <a:t>미탐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4E79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4E79"/>
                          </a:solidFill>
                          <a:latin typeface="맑은 고딕"/>
                        </a:rPr>
                        <a:t>0.512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4E79"/>
                          </a:solidFill>
                          <a:latin typeface="맑은 고딕"/>
                        </a:rPr>
                        <a:t>0.510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4E79"/>
                          </a:solidFill>
                          <a:latin typeface="맑은 고딕"/>
                        </a:rPr>
                        <a:t>0.378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4E79"/>
                          </a:solidFill>
                          <a:latin typeface="맑은 고딕"/>
                        </a:rPr>
                        <a:t>0.792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4E79"/>
                          </a:solidFill>
                          <a:latin typeface="맑은 고딕"/>
                        </a:rPr>
                        <a:t>546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4E79"/>
                          </a:solidFill>
                          <a:latin typeface="맑은 고딕"/>
                        </a:rPr>
                        <a:t>87</a:t>
                      </a:r>
                    </a:p>
                  </a:txBody>
                  <a:tcPr anchor="ctr" marL="45720" marR="45720" marT="9144" marB="9144">
                    <a:solidFill>
                      <a:srgbClr val="E8EF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Extra Trees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0.481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0.471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0.359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0.728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544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114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Gradient Boosting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0.460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0.439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0.358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0.647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487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148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Extra Trees + 클래스가중 (제출 모델)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0.453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0.436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0.342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0.671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541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138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HistGradientBoosting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0.445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0.443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0.316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0.754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685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103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Logistic Regression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0.421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0.393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0.332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0.578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488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</a:rPr>
                        <a:t>177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0624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회귀 점수를 그대로 경보에 쓰면 F1 0.322 — 전용 분류기가 필요하다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클래스 가중(balanced) 적용 시 F1 0.512 → 0.453 으로 악화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스태킹은 전 구간 F1 0.477 이었으나 clean 구간에서 0.251 로 붕괴 → 기각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위 표는 공통 특성집합 기준 순위다. 생산 구성(외부 달력·기상 포함 + isotonic 보정)에서는 F1 0.478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analysis/tables/34_standard_benchmark_alert_clean.csv · 33_model_compare_alert_clean.csv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최종 성능 — 네 호라이즌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clean 구간 OOF · 제출 모델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927078" cy="173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2708"/>
                <a:gridCol w="1192045"/>
                <a:gridCol w="1192045"/>
                <a:gridCol w="1589393"/>
                <a:gridCol w="1291382"/>
                <a:gridCol w="1291382"/>
                <a:gridCol w="1490056"/>
                <a:gridCol w="1788067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선행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MAE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RMSE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Naive 대비 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경보 F1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PR-AUC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구간 적중률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고사용량 적중률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15분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5.094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8.125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35.571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0.532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0.549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0.867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0.695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30분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6.748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10.235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44.322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0.493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0.452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0.868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0.634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45분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7.604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11.593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48.467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0.476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0.421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0.868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0.567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60분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7.907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12.506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53.013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0.478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0.396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0.872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0.556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선행이 길수록 어려워진다 — 15분 F1 0.53, 60분 F1 0.48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구간 적중률은 목표 0.90 에 미달한다. 고사용량 구간은 특히 낮다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analysis/tables/23_baseline_final_metrics.csv · 28_peak_probability_summary.csv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어디서 틀리는가 — 고사용량 구간 자체가 가장 어렵다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1시간 전 예측, 조건별 MAE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927076" cy="26334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42359"/>
                <a:gridCol w="1821179"/>
                <a:gridCol w="1593532"/>
                <a:gridCol w="1593532"/>
                <a:gridCol w="2276474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스텝 수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비중 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MAE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전체 대비 배율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전체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19980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100.000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8.047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1.000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고사용량 구간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1135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5.700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12.972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1.612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급변동 상위 10%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2000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10.000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9.419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1.171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비가동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7988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40.000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6.828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0.849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재가동 1시간 이내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561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2.800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9.514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1.182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12~18시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4995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25.000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8.242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1.024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주말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5756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28.800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6.940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0.862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8912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고사용량 구간 MAE 는 전체의 1.61배 — 가장 취약하다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11111"/>
                </a:solidFill>
                <a:latin typeface="맑은 고딕"/>
              </a:rPr>
              <a:t>· 비가동·주말은 전체보다 낮다(0.85·0.86). 휴무·재가동 특성이 작동했다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analysis/tables/31_v2_stress_map.csv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부가분석 ① F1 0.48 는 한계가 아니라 편향 때문이다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오차 크기는 그대로 두고 편향만 없앴을 때의 F1 을 측정했다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현재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7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4E79"/>
                </a:solidFill>
                <a:latin typeface="맑은 고딕"/>
              </a:rPr>
              <a:t>0.478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1635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clean 구간, 1시간 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1850" y="173736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편향 없을 때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1850" y="2029967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4E79"/>
                </a:solidFill>
                <a:latin typeface="맑은 고딕"/>
              </a:rPr>
              <a:t>0.693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850" y="281635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같은 잔차 분포를 무작위 주입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3620" y="173736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고사용량 구간 과소예측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3620" y="2029967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4E79"/>
                </a:solidFill>
                <a:latin typeface="맑은 고딕"/>
              </a:rPr>
              <a:t>14.8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3620" y="281635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전체 편향은 −0.96 kw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5389" y="173736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임계에 도달한 피크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5389" y="2029967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4E79"/>
                </a:solidFill>
                <a:latin typeface="맑은 고딕"/>
              </a:rPr>
              <a:t>18 %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5389" y="281635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나머지 82% 는 선에 못 미친다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111111"/>
                </a:solidFill>
                <a:latin typeface="맑은 고딕"/>
              </a:rPr>
              <a:t>· MAE 를 줄이면 조건부 평균으로 수렴한다 — 분포의 오른쪽 꼬리를 구조적으로 깎는다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11111"/>
                </a:solidFill>
                <a:latin typeface="맑은 고딕"/>
              </a:rPr>
              <a:t>· 그래서 MAE 가 좋아져도 F1 이 따라오지 않는다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11111"/>
                </a:solidFill>
                <a:latin typeface="맑은 고딕"/>
              </a:rPr>
              <a:t>· 다음: 높은 분위를 점예측으로 사용 · 과소예측에 더 큰 벌점을 주는 비대칭 손실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analysis/tables/33_f1_ceiling_diagnosis.csv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부가분석 ② 학습·평가 구간에 합성 복제일이 섞여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하루 96스텝 전력 프로파일을 해시로 비교해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전 기간 복제일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맑은 고딕"/>
              </a:rPr>
              <a:t>160 / 257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45개 그룹 · 잉여 115일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1850" y="178308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주 보고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1850" y="2075688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맑은 고딕"/>
              </a:rPr>
              <a:t>2 / 76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850" y="286207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1개 그룹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3620" y="178308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fold 0·2 교차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3620" y="2075688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맑은 고딕"/>
              </a:rPr>
              <a:t>23 · 28 그룹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3620" y="286207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TRAIN·TEST 양쪽에 존재 → 성능 과대평가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5389" y="1783080"/>
            <a:ext cx="254888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0757A"/>
                </a:solidFill>
                <a:latin typeface="맑은 고딕"/>
              </a:rPr>
              <a:t>fold 4 교차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5389" y="2075688"/>
            <a:ext cx="254888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4E79"/>
                </a:solidFill>
                <a:latin typeface="맑은 고딕"/>
              </a:rPr>
              <a:t>0 그룹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5389" y="2862072"/>
            <a:ext cx="254888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0757A"/>
                </a:solidFill>
                <a:latin typeface="맑은 고딕"/>
              </a:rPr>
              <a:t>clean 구간을 TEST 로 쓰는 fold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111111"/>
                </a:solidFill>
                <a:latin typeface="맑은 고딕"/>
              </a:rPr>
              <a:t>· 전 구간 평균을 대표 성능으로 쓰면 부풀려진다 → 주 보고 구간을 clean 으로 고정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11111"/>
                </a:solidFill>
                <a:latin typeface="맑은 고딕"/>
              </a:rPr>
              <a:t>· 수용테스트에 'fold 교차 0건' 검사를 넣어 회귀를 막는다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analysis/tables/31_duplicate_day_audit.csv · 31_duplicate_fold_crossing.csv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부가분석 ③ 예측구간 — 좁아지면서 적중률은 올랐다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분위회귀 + conformal 보정. 목표 적중률 0.90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927076" cy="173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90078"/>
                <a:gridCol w="1731022"/>
                <a:gridCol w="1947400"/>
                <a:gridCol w="1622833"/>
                <a:gridCol w="1406455"/>
                <a:gridCol w="1622833"/>
                <a:gridCol w="1406455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선행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전체 적중률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고사용량 적중률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평균 폭(kw)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HIGH MAE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MEDIUM MAE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70757A"/>
                          </a:solidFill>
                          <a:latin typeface="맑은 고딕"/>
                        </a:rPr>
                        <a:t>LOW MAE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15분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0.867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0.695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22.525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2.688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7.603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10.738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30분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0.868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0.634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31.309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3.918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9.150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11.336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45분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0.868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0.567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35.395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4.551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9.850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12.487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60분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0.872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0.556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39.873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4.715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10.319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13.579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2336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111111"/>
                </a:solidFill>
                <a:latin typeface="맑은 고딕"/>
              </a:rPr>
              <a:t>· 신뢰도 등급이 실제 오차 순서와 일치한다 — HIGH 4.7 &lt; MEDIUM 10.3 &lt; LOW 13.6 kw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11111"/>
                </a:solidFill>
                <a:latin typeface="맑은 고딕"/>
              </a:rPr>
              <a:t>· 고사용량 구간 적중률은 0.56 으로 목표 0.90 에 미달한다. 해결이 아니라 개선이다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analysis/tables/23_baseline_final_metrics.csv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현장 활용 — 사건당 한 번, 남은 준비시간과 함께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0757A"/>
                </a:solidFill>
                <a:latin typeface="맑은 고딕"/>
              </a:rPr>
              <a:t>선행시간은 제도 기준에 맞춘다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927079" cy="228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10066"/>
                <a:gridCol w="4774858"/>
                <a:gridCol w="5142155"/>
              </a:tblGrid>
              <a:tr h="457200"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70757A"/>
                          </a:solidFill>
                          <a:latin typeface="맑은 고딕"/>
                        </a:rPr>
                        <a:t>선행(분)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0757A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0757A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한전 수요시한(디멘드 타임) 15분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기존 제어기가 이미 커버하는 구간. h15 는 '기존 수준 재현' 비교군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KPX 수요자원 거래시장 감축요청 통보 리드타임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h60 = 제도상 표준 통보 리드타임과 일치. 본 시스템의 주 호라이즌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KPX 추가 감축요청 여유(30분)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minimum_lead_minutes=30 의 근거. 이보다 짧으면 제도적 조치 창이 없음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산업 수요관리 스케줄링의 표준 시간슬롯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</a:rPr>
                        <a:t>30분 하한의 문헌적 보강</a:t>
                      </a:r>
                    </a:p>
                  </a:txBody>
                  <a:tcPr anchor="ctr" marL="45720" marR="45720" marT="9144" marB="9144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111111"/>
                </a:solidFill>
                <a:latin typeface="맑은 고딕"/>
              </a:rPr>
              <a:t>· 알림 내용은 셋뿐 — 초과 예상 시각 · 남은 준비시간(분) · 확신도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11111"/>
                </a:solidFill>
                <a:latin typeface="맑은 고딕"/>
              </a:rPr>
              <a:t>· 근거는 UI 가 아니라 수치다 — 포착한 사건 수와 확인 부담(건/일)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analysis/tables/31_leadtime_basis.csv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재현성, 그리고 아직 주장하지 않는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27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>
                <a:solidFill>
                  <a:srgbClr val="111111"/>
                </a:solidFill>
                <a:latin typeface="맑은 고딕"/>
              </a:rPr>
              <a:t>· 명령 한 줄로 전처리 → 학습 → 추론 → 결과 생성. 시드 고정(20260926), CPU 전용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111111"/>
                </a:solidFill>
                <a:latin typeface="맑은 고딕"/>
              </a:rPr>
              <a:t>· 학습/추론 분리 — joblib 아티팩트 + inference.py 로 예측 파일 생성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111111"/>
                </a:solidFill>
                <a:latin typeface="맑은 고딕"/>
              </a:rPr>
              <a:t>· 모든 수치는 analysis/tables/*.csv 에서 읽어 이 장표를 만들었다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111111"/>
                </a:solidFill>
                <a:latin typeface="맑은 고딕"/>
              </a:rPr>
              <a:t>· 주장하지 않는 것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70757A"/>
                </a:solidFill>
                <a:latin typeface="맑은 고딕"/>
              </a:rPr>
              <a:t>    – 절감액(원) — 계약전력·요금 조건 미확인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70757A"/>
                </a:solidFill>
                <a:latin typeface="맑은 고딕"/>
              </a:rPr>
              <a:t>    – 설비 단위 원인·조치 — 설비 식별자 없음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70757A"/>
                </a:solidFill>
                <a:latin typeface="맑은 고딕"/>
              </a:rPr>
              <a:t>    – 고사용량 구간 예측구간 적중률 0.56 — 목표 0.90 미달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70757A"/>
                </a:solidFill>
                <a:latin typeface="맑은 고딕"/>
              </a:rPr>
              <a:t>    – 기각한 가설 7건을 보고서에 그대로 남겼다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부록 · 예측값과 예측구간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15</a:t>
            </a:r>
          </a:p>
        </p:txBody>
      </p:sp>
      <p:pic>
        <p:nvPicPr>
          <p:cNvPr id="5" name="Picture 4" descr="23_baseline_fig2_forecast_inter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332720" cy="31447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analysis/figures/23_baseline_fig2_forecast_interval.png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부록 · 신뢰도 등급별 오차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16</a:t>
            </a:r>
          </a:p>
        </p:txBody>
      </p:sp>
      <p:pic>
        <p:nvPicPr>
          <p:cNvPr id="5" name="Picture 4" descr="23_baseline_fig3_reliability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332720" cy="5347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analysis/figures/23_baseline_fig3_reliability_bands.png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부록 · 평가 30일 실측·예측·미탐·오경보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17</a:t>
            </a:r>
          </a:p>
        </p:txBody>
      </p:sp>
      <p:pic>
        <p:nvPicPr>
          <p:cNvPr id="5" name="Picture 4" descr="30_timeseries_fn_f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332720" cy="54915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analysis/figures/30_timeseries_fn_fp.png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맑은 고딕"/>
              </a:rPr>
              <a:t>부록 · 경보 확률의 신뢰도 곡선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44168"/>
            <a:ext cx="10927080" cy="10972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70757A"/>
                </a:solidFill>
                <a:latin typeface="맑은 고딕"/>
              </a:rPr>
              <a:t>18</a:t>
            </a:r>
          </a:p>
        </p:txBody>
      </p:sp>
      <p:pic>
        <p:nvPicPr>
          <p:cNvPr id="5" name="Picture 4" descr="28_peak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332720" cy="35782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0757A"/>
                </a:solidFill>
                <a:latin typeface="맑은 고딕"/>
              </a:rPr>
              <a:t>analysis/figures/28_peak_probability.png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