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65" r:id="rId15"/>
  </p:sldIdLst>
  <p:sldSz cx="18288000" cy="10287000"/>
  <p:notesSz cx="6858000" cy="9144000"/>
  <p:embeddedFontLst>
    <p:embeddedFont>
      <p:font typeface="둥근펜 Bold" charset="1" panose="020B0500000000000000"/>
      <p:regular r:id="rId16"/>
    </p:embeddedFont>
    <p:embeddedFont>
      <p:font typeface="둥근펜" charset="1" panose="020B0500000000000000"/>
      <p:regular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15" Type="http://schemas.openxmlformats.org/officeDocument/2006/relationships/slide" Target="slides/slide10.xml"/><Relationship Id="rId16" Type="http://schemas.openxmlformats.org/officeDocument/2006/relationships/font" Target="fonts/font16.fntdata"/><Relationship Id="rId17" Type="http://schemas.openxmlformats.org/officeDocument/2006/relationships/font" Target="fonts/font17.fntdata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p="http://schemas.openxmlformats.org/presentationml/2006/main" xmlns:a="http://schemas.openxmlformats.org/drawingml/2006/main">
  <p:cSld>
    <p:bg>
      <p:bgPr>
        <a:solidFill>
          <a:srgbClr val="EAEF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461169" y="408679"/>
            <a:ext cx="17365662" cy="9469643"/>
            <a:chOff x="0" y="0"/>
            <a:chExt cx="4573672" cy="249406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573672" cy="2494062"/>
            </a:xfrm>
            <a:custGeom>
              <a:avLst/>
              <a:gdLst/>
              <a:ahLst/>
              <a:cxnLst/>
              <a:rect r="r" b="b" t="t" l="l"/>
              <a:pathLst>
                <a:path h="2494062" w="4573672">
                  <a:moveTo>
                    <a:pt x="0" y="0"/>
                  </a:moveTo>
                  <a:lnTo>
                    <a:pt x="4573672" y="0"/>
                  </a:lnTo>
                  <a:lnTo>
                    <a:pt x="4573672" y="2494062"/>
                  </a:lnTo>
                  <a:lnTo>
                    <a:pt x="0" y="2494062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95250"/>
              <a:ext cx="4573672" cy="258931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049"/>
                </a:lnSpc>
              </a:pPr>
            </a:p>
          </p:txBody>
        </p:sp>
      </p:grpSp>
      <p:sp>
        <p:nvSpPr>
          <p:cNvPr name="AutoShape 5" id="5"/>
          <p:cNvSpPr/>
          <p:nvPr/>
        </p:nvSpPr>
        <p:spPr>
          <a:xfrm>
            <a:off x="1028700" y="8585420"/>
            <a:ext cx="16230600" cy="0"/>
          </a:xfrm>
          <a:prstGeom prst="line">
            <a:avLst/>
          </a:prstGeom>
          <a:ln cap="flat" w="952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  <p:sp>
        <p:nvSpPr>
          <p:cNvPr name="TextBox 6" id="6"/>
          <p:cNvSpPr txBox="true"/>
          <p:nvPr/>
        </p:nvSpPr>
        <p:spPr>
          <a:xfrm rot="0">
            <a:off x="3388285" y="3635105"/>
            <a:ext cx="11874435" cy="1371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831"/>
              </a:lnSpc>
            </a:pPr>
            <a:r>
              <a:rPr lang="en-US" b="true" sz="9025">
                <a:solidFill>
                  <a:srgbClr val="000000"/>
                </a:solidFill>
                <a:latin typeface="둥근펜 Bold"/>
                <a:ea typeface="둥근펜 Bold"/>
                <a:cs typeface="둥근펜 Bold"/>
                <a:sym typeface="둥근펜 Bold"/>
              </a:rPr>
              <a:t>공장 전력 수요 예측과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3388285" y="5130963"/>
            <a:ext cx="11874435" cy="1371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831"/>
              </a:lnSpc>
            </a:pPr>
            <a:r>
              <a:rPr lang="en-US" b="true" sz="9025">
                <a:solidFill>
                  <a:srgbClr val="0B5BDB"/>
                </a:solidFill>
                <a:latin typeface="둥근펜 Bold"/>
                <a:ea typeface="둥근펜 Bold"/>
                <a:cs typeface="둥근펜 Bold"/>
                <a:sym typeface="둥근펜 Bold"/>
              </a:rPr>
              <a:t>고사용량 조기 경보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157751" y="8859669"/>
            <a:ext cx="5864534" cy="5039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349"/>
              </a:lnSpc>
            </a:pPr>
            <a:r>
              <a:rPr lang="en-US" b="true" sz="2806">
                <a:solidFill>
                  <a:srgbClr val="000000"/>
                </a:solidFill>
                <a:latin typeface="둥근펜 Bold"/>
                <a:ea typeface="둥근펜 Bold"/>
                <a:cs typeface="둥근펜 Bold"/>
                <a:sym typeface="둥근펜 Bold"/>
              </a:rPr>
              <a:t>제6회 K-인공지능 제조데이터 분석 경진대회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4380160" y="8897769"/>
            <a:ext cx="2714904" cy="438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639"/>
              </a:lnSpc>
            </a:pPr>
            <a:r>
              <a:rPr lang="en-US" b="true" sz="2599" spc="137">
                <a:solidFill>
                  <a:srgbClr val="000000"/>
                </a:solidFill>
                <a:latin typeface="둥근펜 Bold"/>
                <a:ea typeface="둥근펜 Bold"/>
                <a:cs typeface="둥근펜 Bold"/>
                <a:sym typeface="둥근펜 Bold"/>
              </a:rPr>
              <a:t>2026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>
  <p:cSld>
    <p:bg>
      <p:bgPr>
        <a:solidFill>
          <a:srgbClr val="EAEF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461169" y="408679"/>
            <a:ext cx="17365662" cy="9469643"/>
            <a:chOff x="0" y="0"/>
            <a:chExt cx="4573672" cy="249406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573672" cy="2494062"/>
            </a:xfrm>
            <a:custGeom>
              <a:avLst/>
              <a:gdLst/>
              <a:ahLst/>
              <a:cxnLst/>
              <a:rect r="r" b="b" t="t" l="l"/>
              <a:pathLst>
                <a:path h="2494062" w="4573672">
                  <a:moveTo>
                    <a:pt x="0" y="0"/>
                  </a:moveTo>
                  <a:lnTo>
                    <a:pt x="4573672" y="0"/>
                  </a:lnTo>
                  <a:lnTo>
                    <a:pt x="4573672" y="2494062"/>
                  </a:lnTo>
                  <a:lnTo>
                    <a:pt x="0" y="2494062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42875"/>
              <a:ext cx="4573672" cy="263693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5669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4677309" y="4138631"/>
            <a:ext cx="8933383" cy="20097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5889"/>
              </a:lnSpc>
              <a:spcBef>
                <a:spcPct val="0"/>
              </a:spcBef>
            </a:pPr>
            <a:r>
              <a:rPr lang="en-US" b="true" sz="13241" spc="119">
                <a:solidFill>
                  <a:srgbClr val="0B5BDB"/>
                </a:solidFill>
                <a:latin typeface="둥근펜 Bold"/>
                <a:ea typeface="둥근펜 Bold"/>
                <a:cs typeface="둥근펜 Bold"/>
                <a:sym typeface="둥근펜 Bold"/>
              </a:rPr>
              <a:t>THANK YOU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7762194" y="9103983"/>
            <a:ext cx="4236194" cy="2806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98"/>
              </a:lnSpc>
            </a:pPr>
            <a:r>
              <a:rPr lang="en-US" sz="2528" spc="80" b="true">
                <a:solidFill>
                  <a:srgbClr val="000000"/>
                </a:solidFill>
                <a:latin typeface="둥근펜 Bold"/>
                <a:ea typeface="둥근펜 Bold"/>
                <a:cs typeface="둥근펜 Bold"/>
                <a:sym typeface="둥근펜 Bold"/>
              </a:rPr>
              <a:t>hello@reallygreatsite.com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289612" y="9094458"/>
            <a:ext cx="1673566" cy="3012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22"/>
              </a:lnSpc>
            </a:pPr>
            <a:r>
              <a:rPr lang="en-US" b="true" sz="2557" spc="81">
                <a:solidFill>
                  <a:srgbClr val="3160D8"/>
                </a:solidFill>
                <a:latin typeface="둥근펜 Bold"/>
                <a:ea typeface="둥근펜 Bold"/>
                <a:cs typeface="둥근펜 Bold"/>
                <a:sym typeface="둥근펜 Bold"/>
              </a:rPr>
              <a:t>EMAIL</a:t>
            </a:r>
          </a:p>
        </p:txBody>
      </p:sp>
      <p:sp>
        <p:nvSpPr>
          <p:cNvPr name="AutoShape 8" id="8"/>
          <p:cNvSpPr/>
          <p:nvPr/>
        </p:nvSpPr>
        <p:spPr>
          <a:xfrm>
            <a:off x="1028700" y="8585420"/>
            <a:ext cx="16230600" cy="0"/>
          </a:xfrm>
          <a:prstGeom prst="line">
            <a:avLst/>
          </a:prstGeom>
          <a:ln cap="flat" w="38100">
            <a:solidFill>
              <a:srgbClr val="79838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9" id="9"/>
          <p:cNvSpPr txBox="true"/>
          <p:nvPr/>
        </p:nvSpPr>
        <p:spPr>
          <a:xfrm rot="0">
            <a:off x="1232404" y="8850144"/>
            <a:ext cx="4311761" cy="5521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659"/>
              </a:lnSpc>
            </a:p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461169" y="408679"/>
            <a:ext cx="17365662" cy="9469643"/>
            <a:chOff x="0" y="0"/>
            <a:chExt cx="4573672" cy="249406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573672" cy="2494062"/>
            </a:xfrm>
            <a:custGeom>
              <a:avLst/>
              <a:gdLst/>
              <a:ahLst/>
              <a:cxnLst/>
              <a:rect r="r" b="b" t="t" l="l"/>
              <a:pathLst>
                <a:path h="2494062" w="4573672">
                  <a:moveTo>
                    <a:pt x="0" y="0"/>
                  </a:moveTo>
                  <a:lnTo>
                    <a:pt x="4573672" y="0"/>
                  </a:lnTo>
                  <a:lnTo>
                    <a:pt x="4573672" y="2494062"/>
                  </a:lnTo>
                  <a:lnTo>
                    <a:pt x="0" y="2494062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95250"/>
              <a:ext cx="4573672" cy="258931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049"/>
                </a:lnSpc>
              </a:pPr>
            </a:p>
          </p:txBody>
        </p:sp>
      </p:grpSp>
      <p:sp>
        <p:nvSpPr>
          <p:cNvPr name="AutoShape 17" id="17"/>
          <p:cNvSpPr/>
          <p:nvPr/>
        </p:nvSpPr>
        <p:spPr>
          <a:xfrm>
            <a:off x="1298957" y="2326098"/>
            <a:ext cx="15690087" cy="0"/>
          </a:xfrm>
          <a:prstGeom prst="line">
            <a:avLst/>
          </a:prstGeom>
          <a:ln cap="flat" w="2857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id="18" name="TextBox 17"/>
          <p:cNvSpPr txBox="1"/>
          <p:nvPr/>
        </p:nvSpPr>
        <p:spPr>
          <a:xfrm>
            <a:off x="1828800" y="1261872"/>
            <a:ext cx="1463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B5BDB"/>
                </a:solidFill>
                <a:latin typeface="둥근펜 Bold"/>
              </a:rPr>
              <a:t>1시간 전에 고사용량을 맞힐 수 있는가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8448" y="3017520"/>
            <a:ext cx="36484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6B7078"/>
                </a:solidFill>
                <a:latin typeface="둥근펜"/>
              </a:rPr>
              <a:t>1시간 전 MAE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8448" y="3566160"/>
            <a:ext cx="364845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5800" b="1">
                <a:solidFill>
                  <a:srgbClr val="0B5BDB"/>
                </a:solidFill>
                <a:latin typeface="둥근펜 Bold"/>
              </a:rPr>
              <a:t>7.86 kw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98448" y="4800600"/>
            <a:ext cx="364845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0">
                <a:solidFill>
                  <a:srgbClr val="6B7078"/>
                </a:solidFill>
                <a:latin typeface="둥근펜"/>
              </a:rPr>
              <a:t>MASE 0.215 · R² 0.958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21224" y="3017520"/>
            <a:ext cx="36484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6B7078"/>
                </a:solidFill>
                <a:latin typeface="둥근펜"/>
              </a:rPr>
              <a:t>경보 F1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21224" y="3566160"/>
            <a:ext cx="364845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5800" b="1">
                <a:solidFill>
                  <a:srgbClr val="0B5BDB"/>
                </a:solidFill>
                <a:latin typeface="둥근펜 Bold"/>
              </a:rPr>
              <a:t>0.690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21224" y="4800600"/>
            <a:ext cx="364845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0">
                <a:solidFill>
                  <a:srgbClr val="6B7078"/>
                </a:solidFill>
                <a:latin typeface="둥근펜"/>
              </a:rPr>
              <a:t>persistence 규칙 0.575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3017520"/>
            <a:ext cx="36484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6B7078"/>
                </a:solidFill>
                <a:latin typeface="둥근펜"/>
              </a:rPr>
              <a:t>경보 정밀도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3566160"/>
            <a:ext cx="364845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5800" b="1">
                <a:solidFill>
                  <a:srgbClr val="0B5BDB"/>
                </a:solidFill>
                <a:latin typeface="둥근펜 Bold"/>
              </a:rPr>
              <a:t>0.643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4800600"/>
            <a:ext cx="364845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0">
                <a:solidFill>
                  <a:srgbClr val="6B7078"/>
                </a:solidFill>
                <a:latin typeface="둥근펜"/>
              </a:rPr>
              <a:t>재현율 0.744 · MCC 0.646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066776" y="3017520"/>
            <a:ext cx="36484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1900" b="0">
                <a:solidFill>
                  <a:srgbClr val="6B7078"/>
                </a:solidFill>
                <a:latin typeface="둥근펜"/>
              </a:rPr>
              <a:t>PR-AUC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066776" y="3566160"/>
            <a:ext cx="364845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5800" b="1">
                <a:solidFill>
                  <a:srgbClr val="0B5BDB"/>
                </a:solidFill>
                <a:latin typeface="둥근펜 Bold"/>
              </a:rPr>
              <a:t>0.736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066776" y="4800600"/>
            <a:ext cx="364845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1600" b="0">
                <a:solidFill>
                  <a:srgbClr val="6B7078"/>
                </a:solidFill>
                <a:latin typeface="둥근펜"/>
              </a:rPr>
              <a:t>양성 비율 0.120 대비 6.1배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98448" y="6309360"/>
            <a:ext cx="15691104" cy="6035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2300" b="1">
                <a:solidFill>
                  <a:srgbClr val="000000"/>
                </a:solidFill>
                <a:latin typeface="둥근펜 Bold"/>
              </a:rPr>
              <a:t>· 설비 센서 없음  -  15분 수요·생산량·관측 기상·달력만 주어진다</a:t>
            </a:r>
          </a:p>
          <a:p>
            <a:pPr>
              <a:spcAft>
                <a:spcPts val="1800"/>
              </a:spcAft>
            </a:pPr>
            <a:r>
              <a:rPr sz="2300" b="1">
                <a:solidFill>
                  <a:srgbClr val="000000"/>
                </a:solidFill>
                <a:latin typeface="둥근펜 Bold"/>
              </a:rPr>
              <a:t>· 결정시점 t 에서 t+15/30/45/60분 수요를 직접 예측하고 고사용량 여부를 판정한다</a:t>
            </a:r>
          </a:p>
          <a:p>
            <a:pPr>
              <a:spcAft>
                <a:spcPts val="1800"/>
              </a:spcAft>
            </a:pPr>
            <a:r>
              <a:rPr sz="2300" b="1">
                <a:solidFill>
                  <a:srgbClr val="000000"/>
                </a:solidFill>
                <a:latin typeface="둥근펜 Bold"/>
              </a:rPr>
              <a:t>· 한전 요금적용전력은 15분 평균의 월 최대값 · KPX 감축요청은 1시간 전 통보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461169" y="408679"/>
            <a:ext cx="17365662" cy="9469643"/>
            <a:chOff x="0" y="0"/>
            <a:chExt cx="4573672" cy="249406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573672" cy="2494062"/>
            </a:xfrm>
            <a:custGeom>
              <a:avLst/>
              <a:gdLst/>
              <a:ahLst/>
              <a:cxnLst/>
              <a:rect r="r" b="b" t="t" l="l"/>
              <a:pathLst>
                <a:path h="2494062" w="4573672">
                  <a:moveTo>
                    <a:pt x="0" y="0"/>
                  </a:moveTo>
                  <a:lnTo>
                    <a:pt x="4573672" y="0"/>
                  </a:lnTo>
                  <a:lnTo>
                    <a:pt x="4573672" y="2494062"/>
                  </a:lnTo>
                  <a:lnTo>
                    <a:pt x="0" y="2494062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95250"/>
              <a:ext cx="4573672" cy="258931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049"/>
                </a:lnSpc>
              </a:pPr>
            </a:p>
          </p:txBody>
        </p:sp>
      </p:grpSp>
      <p:sp>
        <p:nvSpPr>
          <p:cNvPr name="AutoShape 17" id="17"/>
          <p:cNvSpPr/>
          <p:nvPr/>
        </p:nvSpPr>
        <p:spPr>
          <a:xfrm>
            <a:off x="1298957" y="2326098"/>
            <a:ext cx="15690087" cy="0"/>
          </a:xfrm>
          <a:prstGeom prst="line">
            <a:avLst/>
          </a:prstGeom>
          <a:ln cap="flat" w="2857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id="18" name="TextBox 17"/>
          <p:cNvSpPr txBox="1"/>
          <p:nvPr/>
        </p:nvSpPr>
        <p:spPr>
          <a:xfrm>
            <a:off x="1828800" y="1261872"/>
            <a:ext cx="1463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B5BDB"/>
                </a:solidFill>
                <a:latin typeface="둥근펜 Bold"/>
              </a:rPr>
              <a:t>데이터  -  선박엔진용 볼트·너트 제조 1개 공장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298448" y="2926080"/>
          <a:ext cx="15691103" cy="340156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747129"/>
                <a:gridCol w="4918107"/>
                <a:gridCol w="7025867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둥근펜 Bold"/>
                        </a:rPr>
                        <a:t>변수</a:t>
                      </a:r>
                    </a:p>
                  </a:txBody>
                  <a:tcPr anchor="ctr" marL="64008" marR="64008">
                    <a:solidFill>
                      <a:srgbClr val="0B5BD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둥근펜 Bold"/>
                        </a:rPr>
                        <a:t>내용</a:t>
                      </a:r>
                    </a:p>
                  </a:txBody>
                  <a:tcPr anchor="ctr" marL="64008" marR="64008">
                    <a:solidFill>
                      <a:srgbClr val="0B5BD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둥근펜 Bold"/>
                        </a:rPr>
                        <a:t>처리</a:t>
                      </a:r>
                    </a:p>
                  </a:txBody>
                  <a:tcPr anchor="ctr" marL="64008" marR="64008">
                    <a:solidFill>
                      <a:srgbClr val="0B5BD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전력 15/30/45/60분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15분 평균 수요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사용  -  요금적용전력과 같은 단위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평균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4개 분값의 평균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제외  -  예측 타깃 포함(누수)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생산량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시간당 생산 수량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사용  -  가동/비가동 상태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기온·습도·풍속·강수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동시각 관측값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사용  -  예보 미사용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공장인원 / 인건비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생산량과 0.994 중복 / 상수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제외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1298448" y="6492240"/>
            <a:ext cx="15691104" cy="6035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1">
                <a:solidFill>
                  <a:srgbClr val="000000"/>
                </a:solidFill>
                <a:latin typeface="둥근펜 Bold"/>
              </a:rPr>
              <a:t>· 2021-01-01~09-14 · 6,168행 × 18열 · 15분 수요로 재구성</a:t>
            </a:r>
          </a:p>
          <a:p>
            <a:pPr>
              <a:spcAft>
                <a:spcPts val="1600"/>
              </a:spcAft>
            </a:pPr>
            <a:r>
              <a:rPr sz="2200" b="1">
                <a:solidFill>
                  <a:srgbClr val="000000"/>
                </a:solidFill>
                <a:latin typeface="둥근펜 Bold"/>
              </a:rPr>
              <a:t>· 합성 복제일 160/257일 발견 -&gt; 주 보고 구간을 clean(7~9월)으로 고정</a:t>
            </a:r>
          </a:p>
          <a:p>
            <a:pPr>
              <a:spcAft>
                <a:spcPts val="1600"/>
              </a:spcAft>
            </a:pPr>
            <a:r>
              <a:rPr sz="2200" b="1">
                <a:solidFill>
                  <a:srgbClr val="000000"/>
                </a:solidFill>
                <a:latin typeface="둥근펜 Bold"/>
              </a:rPr>
              <a:t>· kw 가 정확히 0 인 74 스텝은 계량 결측 의심으로 분리 표기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461169" y="408679"/>
            <a:ext cx="17365662" cy="9469643"/>
            <a:chOff x="0" y="0"/>
            <a:chExt cx="4573672" cy="249406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573672" cy="2494062"/>
            </a:xfrm>
            <a:custGeom>
              <a:avLst/>
              <a:gdLst/>
              <a:ahLst/>
              <a:cxnLst/>
              <a:rect r="r" b="b" t="t" l="l"/>
              <a:pathLst>
                <a:path h="2494062" w="4573672">
                  <a:moveTo>
                    <a:pt x="0" y="0"/>
                  </a:moveTo>
                  <a:lnTo>
                    <a:pt x="4573672" y="0"/>
                  </a:lnTo>
                  <a:lnTo>
                    <a:pt x="4573672" y="2494062"/>
                  </a:lnTo>
                  <a:lnTo>
                    <a:pt x="0" y="2494062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95250"/>
              <a:ext cx="4573672" cy="258931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049"/>
                </a:lnSpc>
              </a:pPr>
            </a:p>
          </p:txBody>
        </p:sp>
      </p:grpSp>
      <p:sp>
        <p:nvSpPr>
          <p:cNvPr name="AutoShape 17" id="17"/>
          <p:cNvSpPr/>
          <p:nvPr/>
        </p:nvSpPr>
        <p:spPr>
          <a:xfrm>
            <a:off x="1298957" y="2326098"/>
            <a:ext cx="15690087" cy="0"/>
          </a:xfrm>
          <a:prstGeom prst="line">
            <a:avLst/>
          </a:prstGeom>
          <a:ln cap="flat" w="2857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id="18" name="TextBox 17"/>
          <p:cNvSpPr txBox="1"/>
          <p:nvPr/>
        </p:nvSpPr>
        <p:spPr>
          <a:xfrm>
            <a:off x="1828800" y="1261872"/>
            <a:ext cx="1463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B5BDB"/>
                </a:solidFill>
                <a:latin typeface="둥근펜 Bold"/>
              </a:rPr>
              <a:t>비교가 가능하도록 평가를 먼저 고정했다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8448" y="3200400"/>
            <a:ext cx="15691104" cy="6035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600"/>
              </a:spcAft>
            </a:pPr>
            <a:r>
              <a:rPr sz="2600" b="1">
                <a:solidFill>
                  <a:srgbClr val="000000"/>
                </a:solidFill>
                <a:latin typeface="둥근펜 Bold"/>
              </a:rPr>
              <a:t>· Rolling-origin 5-fold. fold 내부를 TRAIN / CAL / TEST 로 시간순 분리</a:t>
            </a:r>
          </a:p>
          <a:p>
            <a:pPr>
              <a:spcAft>
                <a:spcPts val="2600"/>
              </a:spcAft>
            </a:pPr>
            <a:r>
              <a:rPr sz="2600" b="1">
                <a:solidFill>
                  <a:srgbClr val="000000"/>
                </a:solidFill>
                <a:latin typeface="둥근펜 Bold"/>
              </a:rPr>
              <a:t>· 임계·보정·가중은 TRAIN(+CAL)에서만 적합. TEST 는 적용만</a:t>
            </a:r>
          </a:p>
          <a:p>
            <a:pPr>
              <a:spcAft>
                <a:spcPts val="2600"/>
              </a:spcAft>
            </a:pPr>
            <a:r>
              <a:rPr sz="2600" b="1">
                <a:solidFill>
                  <a:srgbClr val="000000"/>
                </a:solidFill>
                <a:latin typeface="둥근펜 Bold"/>
              </a:rPr>
              <a:t>· 주 보고 구간 clean 7~9월  -  OOF 7,288 스텝, 고사용량 419 스텝(5.75%)</a:t>
            </a:r>
          </a:p>
          <a:p>
            <a:pPr>
              <a:spcAft>
                <a:spcPts val="2600"/>
              </a:spcAft>
            </a:pPr>
            <a:r>
              <a:rPr sz="2600" b="1">
                <a:solidFill>
                  <a:srgbClr val="000000"/>
                </a:solidFill>
                <a:latin typeface="둥근펜 Bold"/>
              </a:rPr>
              <a:t>· 수치 예측 지표와 경보 지표를 하나의 점수로 합치지 않는다</a:t>
            </a:r>
          </a:p>
          <a:p>
            <a:pPr>
              <a:spcAft>
                <a:spcPts val="2600"/>
              </a:spcAft>
            </a:pPr>
            <a:r>
              <a:rPr sz="2600" b="1">
                <a:solidFill>
                  <a:srgbClr val="000000"/>
                </a:solidFill>
                <a:latin typeface="둥근펜 Bold"/>
              </a:rPr>
              <a:t>· 정확도·ROC-AUC 는 불균형에서 과대평가되므로 근거로 쓰지 않는다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461169" y="408679"/>
            <a:ext cx="17365662" cy="9469643"/>
            <a:chOff x="0" y="0"/>
            <a:chExt cx="4573672" cy="249406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573672" cy="2494062"/>
            </a:xfrm>
            <a:custGeom>
              <a:avLst/>
              <a:gdLst/>
              <a:ahLst/>
              <a:cxnLst/>
              <a:rect r="r" b="b" t="t" l="l"/>
              <a:pathLst>
                <a:path h="2494062" w="4573672">
                  <a:moveTo>
                    <a:pt x="0" y="0"/>
                  </a:moveTo>
                  <a:lnTo>
                    <a:pt x="4573672" y="0"/>
                  </a:lnTo>
                  <a:lnTo>
                    <a:pt x="4573672" y="2494062"/>
                  </a:lnTo>
                  <a:lnTo>
                    <a:pt x="0" y="2494062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95250"/>
              <a:ext cx="4573672" cy="258931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049"/>
                </a:lnSpc>
              </a:pPr>
            </a:p>
          </p:txBody>
        </p:sp>
      </p:grpSp>
      <p:sp>
        <p:nvSpPr>
          <p:cNvPr name="AutoShape 17" id="17"/>
          <p:cNvSpPr/>
          <p:nvPr/>
        </p:nvSpPr>
        <p:spPr>
          <a:xfrm>
            <a:off x="1298957" y="2326098"/>
            <a:ext cx="15690087" cy="0"/>
          </a:xfrm>
          <a:prstGeom prst="line">
            <a:avLst/>
          </a:prstGeom>
          <a:ln cap="flat" w="2857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id="18" name="TextBox 17"/>
          <p:cNvSpPr txBox="1"/>
          <p:nvPr/>
        </p:nvSpPr>
        <p:spPr>
          <a:xfrm>
            <a:off x="1828800" y="1261872"/>
            <a:ext cx="1463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B5BDB"/>
                </a:solidFill>
                <a:latin typeface="둥근펜 Bold"/>
              </a:rPr>
              <a:t>성능 평가 ① 예측 성능  -  표준 모델·표준 지표</a:t>
            </a:r>
          </a:p>
        </p:txBody>
      </p:sp>
      <p:pic>
        <p:nvPicPr>
          <p:cNvPr id="19" name="Picture 18" descr="37_eval1_predi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5881" y="2697480"/>
            <a:ext cx="12676237" cy="66751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298448" y="9189720"/>
            <a:ext cx="1569110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6B7078"/>
                </a:solidFill>
                <a:latin typeface="둥근펜"/>
              </a:rPr>
              <a:t>회귀 15종 · 분류 13종을 동일 분할·동일 특성으로 비교. 지표는 MAE/RMSE/MAPE/sMAPE/MASE/R² 와 정밀도/재현율/F1/MCC/PR-AUC 만 사용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461169" y="408679"/>
            <a:ext cx="17365662" cy="9469643"/>
            <a:chOff x="0" y="0"/>
            <a:chExt cx="4573672" cy="249406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573672" cy="2494062"/>
            </a:xfrm>
            <a:custGeom>
              <a:avLst/>
              <a:gdLst/>
              <a:ahLst/>
              <a:cxnLst/>
              <a:rect r="r" b="b" t="t" l="l"/>
              <a:pathLst>
                <a:path h="2494062" w="4573672">
                  <a:moveTo>
                    <a:pt x="0" y="0"/>
                  </a:moveTo>
                  <a:lnTo>
                    <a:pt x="4573672" y="0"/>
                  </a:lnTo>
                  <a:lnTo>
                    <a:pt x="4573672" y="2494062"/>
                  </a:lnTo>
                  <a:lnTo>
                    <a:pt x="0" y="2494062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95250"/>
              <a:ext cx="4573672" cy="258931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049"/>
                </a:lnSpc>
              </a:pPr>
            </a:p>
          </p:txBody>
        </p:sp>
      </p:grpSp>
      <p:sp>
        <p:nvSpPr>
          <p:cNvPr name="AutoShape 17" id="17"/>
          <p:cNvSpPr/>
          <p:nvPr/>
        </p:nvSpPr>
        <p:spPr>
          <a:xfrm>
            <a:off x="1298957" y="2326098"/>
            <a:ext cx="15690087" cy="0"/>
          </a:xfrm>
          <a:prstGeom prst="line">
            <a:avLst/>
          </a:prstGeom>
          <a:ln cap="flat" w="2857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id="18" name="TextBox 17"/>
          <p:cNvSpPr txBox="1"/>
          <p:nvPr/>
        </p:nvSpPr>
        <p:spPr>
          <a:xfrm>
            <a:off x="1828800" y="1261872"/>
            <a:ext cx="1463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B5BDB"/>
                </a:solidFill>
                <a:latin typeface="둥근펜 Bold"/>
              </a:rPr>
              <a:t>제출 모델은 MAE 1등이 아니다  -  고사용량 기준으로 골랐다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298448" y="3017520"/>
          <a:ext cx="15691101" cy="41148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046665"/>
                <a:gridCol w="2956294"/>
                <a:gridCol w="4093331"/>
                <a:gridCol w="4320738"/>
                <a:gridCol w="2274073"/>
              </a:tblGrid>
              <a:tr h="457200">
                <a:tc>
                  <a:txBody>
                    <a:bodyPr/>
                    <a:lstStyle/>
                    <a:p>
                      <a:pPr algn="r"/>
                      <a:r>
                        <a:rPr sz="1800" b="1">
                          <a:solidFill>
                            <a:srgbClr val="FFFFFF"/>
                          </a:solidFill>
                          <a:latin typeface="둥근펜 Bold"/>
                        </a:rPr>
                        <a:t>선행(분)</a:t>
                      </a:r>
                    </a:p>
                  </a:txBody>
                  <a:tcPr anchor="ctr" marL="64008" marR="64008">
                    <a:solidFill>
                      <a:srgbClr val="0B5BD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둥근펜 Bold"/>
                        </a:rPr>
                        <a:t>범위</a:t>
                      </a:r>
                    </a:p>
                  </a:txBody>
                  <a:tcPr anchor="ctr" marL="64008" marR="64008">
                    <a:solidFill>
                      <a:srgbClr val="0B5BD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1">
                          <a:solidFill>
                            <a:srgbClr val="FFFFFF"/>
                          </a:solidFill>
                          <a:latin typeface="둥근펜 Bold"/>
                        </a:rPr>
                        <a:t>MAE 차 (ExtraTrees - 제출)</a:t>
                      </a:r>
                    </a:p>
                  </a:txBody>
                  <a:tcPr anchor="ctr" marL="64008" marR="64008">
                    <a:solidFill>
                      <a:srgbClr val="0B5BD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1">
                          <a:solidFill>
                            <a:srgbClr val="FFFFFF"/>
                          </a:solidFill>
                          <a:latin typeface="둥근펜 Bold"/>
                        </a:rPr>
                        <a:t>95% 신뢰구간</a:t>
                      </a:r>
                    </a:p>
                  </a:txBody>
                  <a:tcPr anchor="ctr" marL="64008" marR="64008">
                    <a:solidFill>
                      <a:srgbClr val="0B5BD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둥근펜 Bold"/>
                        </a:rPr>
                        <a:t>판정</a:t>
                      </a:r>
                    </a:p>
                  </a:txBody>
                  <a:tcPr anchor="ctr" marL="64008" marR="64008">
                    <a:solidFill>
                      <a:srgbClr val="0B5BD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15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전체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-0.257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[-0.339, -0.178]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개선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15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고사용량 구간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-0.313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[-0.876, +0.220]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차이 없음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30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전체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-0.798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[-1.036, -0.572]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개선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30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고사용량 구간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0.410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[-0.481, +1.198]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차이 없음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45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전체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-0.888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[-1.109, -0.668]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개선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45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고사용량 구간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0.714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[+0.043, +1.395]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악화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60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전체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-0.786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[-1.007, -0.578]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개선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60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고사용량 구간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1.237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[+0.515, +1.911]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악화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1298448" y="7406640"/>
            <a:ext cx="15691104" cy="6035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1">
                <a:solidFill>
                  <a:srgbClr val="000000"/>
                </a:solidFill>
                <a:latin typeface="둥근펜 Bold"/>
              </a:rPr>
              <a:t>· Extra Trees 는 전체 MAE 가 유의하게 낮지만 고사용량 MAE 는 45·60분에서 유의하게 높다</a:t>
            </a:r>
          </a:p>
          <a:p>
            <a:pPr>
              <a:spcAft>
                <a:spcPts val="1600"/>
              </a:spcAft>
            </a:pPr>
            <a:r>
              <a:rPr sz="2200" b="1">
                <a:solidFill>
                  <a:srgbClr val="000000"/>
                </a:solidFill>
                <a:latin typeface="둥근펜 Bold"/>
              </a:rPr>
              <a:t>· 사전 선언한 조건  -  둘 다 악화 없을 때만 교체 -&gt; 교체하지 않았다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461169" y="408679"/>
            <a:ext cx="17365662" cy="9469643"/>
            <a:chOff x="0" y="0"/>
            <a:chExt cx="4573672" cy="249406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573672" cy="2494062"/>
            </a:xfrm>
            <a:custGeom>
              <a:avLst/>
              <a:gdLst/>
              <a:ahLst/>
              <a:cxnLst/>
              <a:rect r="r" b="b" t="t" l="l"/>
              <a:pathLst>
                <a:path h="2494062" w="4573672">
                  <a:moveTo>
                    <a:pt x="0" y="0"/>
                  </a:moveTo>
                  <a:lnTo>
                    <a:pt x="4573672" y="0"/>
                  </a:lnTo>
                  <a:lnTo>
                    <a:pt x="4573672" y="2494062"/>
                  </a:lnTo>
                  <a:lnTo>
                    <a:pt x="0" y="2494062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95250"/>
              <a:ext cx="4573672" cy="258931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049"/>
                </a:lnSpc>
              </a:pPr>
            </a:p>
          </p:txBody>
        </p:sp>
      </p:grpSp>
      <p:sp>
        <p:nvSpPr>
          <p:cNvPr name="AutoShape 17" id="17"/>
          <p:cNvSpPr/>
          <p:nvPr/>
        </p:nvSpPr>
        <p:spPr>
          <a:xfrm>
            <a:off x="1298957" y="2326098"/>
            <a:ext cx="15690087" cy="0"/>
          </a:xfrm>
          <a:prstGeom prst="line">
            <a:avLst/>
          </a:prstGeom>
          <a:ln cap="flat" w="2857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id="18" name="TextBox 17"/>
          <p:cNvSpPr txBox="1"/>
          <p:nvPr/>
        </p:nvSpPr>
        <p:spPr>
          <a:xfrm>
            <a:off x="1828800" y="1261872"/>
            <a:ext cx="1463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B5BDB"/>
                </a:solidFill>
                <a:latin typeface="둥근펜 Bold"/>
              </a:rPr>
              <a:t>경보 모델  -  표준 분류 13종에서 Random Forest 선정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298448" y="2971800"/>
          <a:ext cx="15691101" cy="427939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5373665"/>
                <a:gridCol w="2149466"/>
                <a:gridCol w="2149466"/>
                <a:gridCol w="1934519"/>
                <a:gridCol w="1934519"/>
                <a:gridCol w="2149466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둥근펜 Bold"/>
                        </a:rPr>
                        <a:t>모델</a:t>
                      </a:r>
                    </a:p>
                  </a:txBody>
                  <a:tcPr anchor="ctr" marL="64008" marR="64008">
                    <a:solidFill>
                      <a:srgbClr val="0B5BD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1">
                          <a:solidFill>
                            <a:srgbClr val="FFFFFF"/>
                          </a:solidFill>
                          <a:latin typeface="둥근펜 Bold"/>
                        </a:rPr>
                        <a:t>정밀도</a:t>
                      </a:r>
                    </a:p>
                  </a:txBody>
                  <a:tcPr anchor="ctr" marL="64008" marR="64008">
                    <a:solidFill>
                      <a:srgbClr val="0B5BD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1">
                          <a:solidFill>
                            <a:srgbClr val="FFFFFF"/>
                          </a:solidFill>
                          <a:latin typeface="둥근펜 Bold"/>
                        </a:rPr>
                        <a:t>재현율</a:t>
                      </a:r>
                    </a:p>
                  </a:txBody>
                  <a:tcPr anchor="ctr" marL="64008" marR="64008">
                    <a:solidFill>
                      <a:srgbClr val="0B5BD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1">
                          <a:solidFill>
                            <a:srgbClr val="FFFFFF"/>
                          </a:solidFill>
                          <a:latin typeface="둥근펜 Bold"/>
                        </a:rPr>
                        <a:t>F1</a:t>
                      </a:r>
                    </a:p>
                  </a:txBody>
                  <a:tcPr anchor="ctr" marL="64008" marR="64008">
                    <a:solidFill>
                      <a:srgbClr val="0B5BD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1">
                          <a:solidFill>
                            <a:srgbClr val="FFFFFF"/>
                          </a:solidFill>
                          <a:latin typeface="둥근펜 Bold"/>
                        </a:rPr>
                        <a:t>MCC</a:t>
                      </a:r>
                    </a:p>
                  </a:txBody>
                  <a:tcPr anchor="ctr" marL="64008" marR="64008">
                    <a:solidFill>
                      <a:srgbClr val="0B5BD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1">
                          <a:solidFill>
                            <a:srgbClr val="FFFFFF"/>
                          </a:solidFill>
                          <a:latin typeface="둥근펜 Bold"/>
                        </a:rPr>
                        <a:t>PR-AUC</a:t>
                      </a:r>
                    </a:p>
                  </a:txBody>
                  <a:tcPr anchor="ctr" marL="64008" marR="64008">
                    <a:solidFill>
                      <a:srgbClr val="0B5BD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0B5BDB"/>
                          </a:solidFill>
                          <a:latin typeface="둥근펜 Bold"/>
                        </a:rPr>
                        <a:t>Random Forest</a:t>
                      </a:r>
                    </a:p>
                  </a:txBody>
                  <a:tcPr anchor="ctr" marL="64008" marR="64008" marT="9144" marB="9144"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1">
                          <a:solidFill>
                            <a:srgbClr val="0B5BDB"/>
                          </a:solidFill>
                          <a:latin typeface="둥근펜 Bold"/>
                        </a:rPr>
                        <a:t>0.378</a:t>
                      </a:r>
                    </a:p>
                  </a:txBody>
                  <a:tcPr anchor="ctr" marL="64008" marR="64008" marT="9144" marB="9144"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1">
                          <a:solidFill>
                            <a:srgbClr val="0B5BDB"/>
                          </a:solidFill>
                          <a:latin typeface="둥근펜 Bold"/>
                        </a:rPr>
                        <a:t>0.792</a:t>
                      </a:r>
                    </a:p>
                  </a:txBody>
                  <a:tcPr anchor="ctr" marL="64008" marR="64008" marT="9144" marB="9144"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1">
                          <a:solidFill>
                            <a:srgbClr val="0B5BDB"/>
                          </a:solidFill>
                          <a:latin typeface="둥근펜 Bold"/>
                        </a:rPr>
                        <a:t>0.512</a:t>
                      </a:r>
                    </a:p>
                  </a:txBody>
                  <a:tcPr anchor="ctr" marL="64008" marR="64008" marT="9144" marB="9144"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1">
                          <a:solidFill>
                            <a:srgbClr val="0B5BDB"/>
                          </a:solidFill>
                          <a:latin typeface="둥근펜 Bold"/>
                        </a:rPr>
                        <a:t>0.510</a:t>
                      </a:r>
                    </a:p>
                  </a:txBody>
                  <a:tcPr anchor="ctr" marL="64008" marR="64008" marT="9144" marB="9144"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1">
                          <a:solidFill>
                            <a:srgbClr val="0B5BDB"/>
                          </a:solidFill>
                          <a:latin typeface="둥근펜 Bold"/>
                        </a:rPr>
                        <a:t>0.357</a:t>
                      </a:r>
                    </a:p>
                  </a:txBody>
                  <a:tcPr anchor="ctr" marL="64008" marR="64008" marT="9144" marB="9144">
                    <a:solidFill>
                      <a:srgbClr val="EDF1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Extra Trees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0.359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0.728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0.481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0.471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0.321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Gradient Boosting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0.358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0.647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0.460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0.439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0.353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Extra Trees + 클래스가중 (제출 모델)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0.342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0.671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0.453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0.436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0.307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HistGradientBoosting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0.316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0.754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0.445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0.443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0.303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Logistic Regression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0.332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0.578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0.421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0.393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0.227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k-NN (k=10)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0.249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0.711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0.369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0.365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0.195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MLP (64,32)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0.269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0.506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0.351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0.316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>
                          <a:solidFill>
                            <a:srgbClr val="000000"/>
                          </a:solidFill>
                          <a:latin typeface="둥근펜"/>
                        </a:rPr>
                        <a:t>0.214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1298448" y="7589520"/>
            <a:ext cx="15691104" cy="6035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1">
                <a:solidFill>
                  <a:srgbClr val="000000"/>
                </a:solidFill>
                <a:latin typeface="둥근펜 Bold"/>
              </a:rPr>
              <a:t>· 정확도는 쓰지 않는다  -  경보를 하나도 내지 않아도 0.943 이 나온다</a:t>
            </a:r>
          </a:p>
          <a:p>
            <a:pPr>
              <a:spcAft>
                <a:spcPts val="1600"/>
              </a:spcAft>
            </a:pPr>
            <a:r>
              <a:rPr sz="2200" b="1">
                <a:solidFill>
                  <a:srgbClr val="000000"/>
                </a:solidFill>
                <a:latin typeface="둥근펜 Bold"/>
              </a:rPr>
              <a:t>· 클래스 가중·스태킹은 정밀도를 떨어뜨려 채택하지 않았다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461169" y="408679"/>
            <a:ext cx="17365662" cy="9469643"/>
            <a:chOff x="0" y="0"/>
            <a:chExt cx="4573672" cy="249406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573672" cy="2494062"/>
            </a:xfrm>
            <a:custGeom>
              <a:avLst/>
              <a:gdLst/>
              <a:ahLst/>
              <a:cxnLst/>
              <a:rect r="r" b="b" t="t" l="l"/>
              <a:pathLst>
                <a:path h="2494062" w="4573672">
                  <a:moveTo>
                    <a:pt x="0" y="0"/>
                  </a:moveTo>
                  <a:lnTo>
                    <a:pt x="4573672" y="0"/>
                  </a:lnTo>
                  <a:lnTo>
                    <a:pt x="4573672" y="2494062"/>
                  </a:lnTo>
                  <a:lnTo>
                    <a:pt x="0" y="2494062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95250"/>
              <a:ext cx="4573672" cy="258931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049"/>
                </a:lnSpc>
              </a:pPr>
            </a:p>
          </p:txBody>
        </p:sp>
      </p:grpSp>
      <p:sp>
        <p:nvSpPr>
          <p:cNvPr name="AutoShape 17" id="17"/>
          <p:cNvSpPr/>
          <p:nvPr/>
        </p:nvSpPr>
        <p:spPr>
          <a:xfrm>
            <a:off x="1298957" y="2326098"/>
            <a:ext cx="15690087" cy="0"/>
          </a:xfrm>
          <a:prstGeom prst="line">
            <a:avLst/>
          </a:prstGeom>
          <a:ln cap="flat" w="2857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id="18" name="TextBox 17"/>
          <p:cNvSpPr txBox="1"/>
          <p:nvPr/>
        </p:nvSpPr>
        <p:spPr>
          <a:xfrm>
            <a:off x="1828800" y="1261872"/>
            <a:ext cx="1463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B5BDB"/>
                </a:solidFill>
                <a:latin typeface="둥근펜 Bold"/>
              </a:rPr>
              <a:t>경보 성능을 올린 두 가지  -  평가 정의와 특성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8448" y="2971800"/>
            <a:ext cx="15691104" cy="6035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 b="1">
                <a:solidFill>
                  <a:srgbClr val="000000"/>
                </a:solidFill>
                <a:latin typeface="둥근펜 Bold"/>
              </a:rPr>
              <a:t>· ① 평가 라벨을 시스템 출력과 맞췄다  -  '정확히 60분 뒤 그 15분 슬롯' -&gt; '앞으로 1시간 안에 발생'</a:t>
            </a:r>
          </a:p>
          <a:p>
            <a:pPr>
              <a:spcAft>
                <a:spcPts val="1400"/>
              </a:spcAft>
            </a:pPr>
            <a:r>
              <a:rPr sz="2100" b="1">
                <a:solidFill>
                  <a:srgbClr val="000000"/>
                </a:solidFill>
                <a:latin typeface="둥근펜 Bold"/>
              </a:rPr>
              <a:t>·      15분만 어긋나도 오답 처리되던 정의였다. 운영상 의미가 없다</a:t>
            </a:r>
          </a:p>
          <a:p>
            <a:pPr>
              <a:spcAft>
                <a:spcPts val="1400"/>
              </a:spcAft>
            </a:pPr>
            <a:r>
              <a:rPr sz="2100" b="1">
                <a:solidFill>
                  <a:srgbClr val="000000"/>
                </a:solidFill>
                <a:latin typeface="둥근펜 Bold"/>
              </a:rPr>
              <a:t>· ② 임계까지의 거리를 직접 특성화  -  margin(kw-임계), 비율, 지연·램프, 당일 최대 margin</a:t>
            </a:r>
          </a:p>
          <a:p>
            <a:pPr>
              <a:spcAft>
                <a:spcPts val="1400"/>
              </a:spcAft>
            </a:pPr>
            <a:r>
              <a:rPr sz="2100" b="1">
                <a:solidFill>
                  <a:srgbClr val="000000"/>
                </a:solidFill>
                <a:latin typeface="둥근펜 Bold"/>
              </a:rPr>
              <a:t>· ③ 피크 이력  -  최근 24시간·7일 피크 횟수, 마지막 피크 이후 경과</a:t>
            </a:r>
          </a:p>
          <a:p>
            <a:pPr>
              <a:spcAft>
                <a:spcPts val="1400"/>
              </a:spcAft>
            </a:pPr>
            <a:r>
              <a:rPr sz="2100" b="1">
                <a:solidFill>
                  <a:srgbClr val="000000"/>
                </a:solidFill>
                <a:latin typeface="둥근펜 Bold"/>
              </a:rPr>
              <a:t>· ④ 클래스 가중·스태킹·delay-timer 는 검정 후 미채택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1298448" y="5943600"/>
          <a:ext cx="15691101" cy="32004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5061646"/>
                <a:gridCol w="3796234"/>
                <a:gridCol w="3796234"/>
                <a:gridCol w="3036987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900" b="1">
                          <a:solidFill>
                            <a:srgbClr val="FFFFFF"/>
                          </a:solidFill>
                          <a:latin typeface="둥근펜 Bold"/>
                        </a:rPr>
                        <a:t>지표</a:t>
                      </a:r>
                    </a:p>
                  </a:txBody>
                  <a:tcPr anchor="ctr" marL="64008" marR="64008">
                    <a:solidFill>
                      <a:srgbClr val="0B5BD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1">
                          <a:solidFill>
                            <a:srgbClr val="FFFFFF"/>
                          </a:solidFill>
                          <a:latin typeface="둥근펜 Bold"/>
                        </a:rPr>
                        <a:t>종전 정의</a:t>
                      </a:r>
                    </a:p>
                  </a:txBody>
                  <a:tcPr anchor="ctr" marL="64008" marR="64008">
                    <a:solidFill>
                      <a:srgbClr val="0B5BD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1">
                          <a:solidFill>
                            <a:srgbClr val="FFFFFF"/>
                          </a:solidFill>
                          <a:latin typeface="둥근펜 Bold"/>
                        </a:rPr>
                        <a:t>운영 정의</a:t>
                      </a:r>
                    </a:p>
                  </a:txBody>
                  <a:tcPr anchor="ctr" marL="64008" marR="64008">
                    <a:solidFill>
                      <a:srgbClr val="0B5BD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1">
                          <a:solidFill>
                            <a:srgbClr val="FFFFFF"/>
                          </a:solidFill>
                          <a:latin typeface="둥근펜 Bold"/>
                        </a:rPr>
                        <a:t>변화</a:t>
                      </a:r>
                    </a:p>
                  </a:txBody>
                  <a:tcPr anchor="ctr" marL="64008" marR="64008">
                    <a:solidFill>
                      <a:srgbClr val="0B5BD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900" b="1">
                          <a:solidFill>
                            <a:srgbClr val="0B5BDB"/>
                          </a:solidFill>
                          <a:latin typeface="둥근펜 Bold"/>
                        </a:rPr>
                        <a:t>정밀도</a:t>
                      </a:r>
                    </a:p>
                  </a:txBody>
                  <a:tcPr anchor="ctr" marL="64008" marR="64008" marT="9144" marB="9144"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1">
                          <a:solidFill>
                            <a:srgbClr val="0B5BDB"/>
                          </a:solidFill>
                          <a:latin typeface="둥근펜 Bold"/>
                        </a:rPr>
                        <a:t>0.441</a:t>
                      </a:r>
                    </a:p>
                  </a:txBody>
                  <a:tcPr anchor="ctr" marL="64008" marR="64008" marT="9144" marB="9144"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1">
                          <a:solidFill>
                            <a:srgbClr val="0B5BDB"/>
                          </a:solidFill>
                          <a:latin typeface="둥근펜 Bold"/>
                        </a:rPr>
                        <a:t>0.643</a:t>
                      </a:r>
                    </a:p>
                  </a:txBody>
                  <a:tcPr anchor="ctr" marL="64008" marR="64008" marT="9144" marB="9144"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1">
                          <a:solidFill>
                            <a:srgbClr val="0B5BDB"/>
                          </a:solidFill>
                          <a:latin typeface="둥근펜 Bold"/>
                        </a:rPr>
                        <a:t>+46%</a:t>
                      </a:r>
                    </a:p>
                  </a:txBody>
                  <a:tcPr anchor="ctr" marL="64008" marR="64008" marT="9144" marB="9144">
                    <a:solidFill>
                      <a:srgbClr val="EDF1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900" b="1">
                          <a:solidFill>
                            <a:srgbClr val="0B5BDB"/>
                          </a:solidFill>
                          <a:latin typeface="둥근펜 Bold"/>
                        </a:rPr>
                        <a:t>재현율</a:t>
                      </a:r>
                    </a:p>
                  </a:txBody>
                  <a:tcPr anchor="ctr" marL="64008" marR="64008" marT="9144" marB="9144"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1">
                          <a:solidFill>
                            <a:srgbClr val="0B5BDB"/>
                          </a:solidFill>
                          <a:latin typeface="둥근펜 Bold"/>
                        </a:rPr>
                        <a:t>0.575</a:t>
                      </a:r>
                    </a:p>
                  </a:txBody>
                  <a:tcPr anchor="ctr" marL="64008" marR="64008" marT="9144" marB="9144"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1">
                          <a:solidFill>
                            <a:srgbClr val="0B5BDB"/>
                          </a:solidFill>
                          <a:latin typeface="둥근펜 Bold"/>
                        </a:rPr>
                        <a:t>0.744</a:t>
                      </a:r>
                    </a:p>
                  </a:txBody>
                  <a:tcPr anchor="ctr" marL="64008" marR="64008" marT="9144" marB="9144"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1">
                          <a:solidFill>
                            <a:srgbClr val="0B5BDB"/>
                          </a:solidFill>
                          <a:latin typeface="둥근펜 Bold"/>
                        </a:rPr>
                        <a:t>+29%</a:t>
                      </a:r>
                    </a:p>
                  </a:txBody>
                  <a:tcPr anchor="ctr" marL="64008" marR="64008" marT="9144" marB="9144">
                    <a:solidFill>
                      <a:srgbClr val="EDF1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900" b="1">
                          <a:solidFill>
                            <a:srgbClr val="0B5BDB"/>
                          </a:solidFill>
                          <a:latin typeface="둥근펜 Bold"/>
                        </a:rPr>
                        <a:t>F1</a:t>
                      </a:r>
                    </a:p>
                  </a:txBody>
                  <a:tcPr anchor="ctr" marL="64008" marR="64008" marT="9144" marB="9144"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1">
                          <a:solidFill>
                            <a:srgbClr val="0B5BDB"/>
                          </a:solidFill>
                          <a:latin typeface="둥근펜 Bold"/>
                        </a:rPr>
                        <a:t>0.499</a:t>
                      </a:r>
                    </a:p>
                  </a:txBody>
                  <a:tcPr anchor="ctr" marL="64008" marR="64008" marT="9144" marB="9144"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1">
                          <a:solidFill>
                            <a:srgbClr val="0B5BDB"/>
                          </a:solidFill>
                          <a:latin typeface="둥근펜 Bold"/>
                        </a:rPr>
                        <a:t>0.690</a:t>
                      </a:r>
                    </a:p>
                  </a:txBody>
                  <a:tcPr anchor="ctr" marL="64008" marR="64008" marT="9144" marB="9144"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1">
                          <a:solidFill>
                            <a:srgbClr val="0B5BDB"/>
                          </a:solidFill>
                          <a:latin typeface="둥근펜 Bold"/>
                        </a:rPr>
                        <a:t>+38%</a:t>
                      </a:r>
                    </a:p>
                  </a:txBody>
                  <a:tcPr anchor="ctr" marL="64008" marR="64008" marT="9144" marB="9144">
                    <a:solidFill>
                      <a:srgbClr val="EDF1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900" b="1">
                          <a:solidFill>
                            <a:srgbClr val="0B5BDB"/>
                          </a:solidFill>
                          <a:latin typeface="둥근펜 Bold"/>
                        </a:rPr>
                        <a:t>MCC</a:t>
                      </a:r>
                    </a:p>
                  </a:txBody>
                  <a:tcPr anchor="ctr" marL="64008" marR="64008" marT="9144" marB="9144"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1">
                          <a:solidFill>
                            <a:srgbClr val="0B5BDB"/>
                          </a:solidFill>
                          <a:latin typeface="둥근펜 Bold"/>
                        </a:rPr>
                        <a:t>0.469</a:t>
                      </a:r>
                    </a:p>
                  </a:txBody>
                  <a:tcPr anchor="ctr" marL="64008" marR="64008" marT="9144" marB="9144"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1">
                          <a:solidFill>
                            <a:srgbClr val="0B5BDB"/>
                          </a:solidFill>
                          <a:latin typeface="둥근펜 Bold"/>
                        </a:rPr>
                        <a:t>0.646</a:t>
                      </a:r>
                    </a:p>
                  </a:txBody>
                  <a:tcPr anchor="ctr" marL="64008" marR="64008" marT="9144" marB="9144"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1">
                          <a:solidFill>
                            <a:srgbClr val="0B5BDB"/>
                          </a:solidFill>
                          <a:latin typeface="둥근펜 Bold"/>
                        </a:rPr>
                        <a:t>+38%</a:t>
                      </a:r>
                    </a:p>
                  </a:txBody>
                  <a:tcPr anchor="ctr" marL="64008" marR="64008" marT="9144" marB="9144">
                    <a:solidFill>
                      <a:srgbClr val="EDF1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900" b="1">
                          <a:solidFill>
                            <a:srgbClr val="0B5BDB"/>
                          </a:solidFill>
                          <a:latin typeface="둥근펜 Bold"/>
                        </a:rPr>
                        <a:t>PR-AUC</a:t>
                      </a:r>
                    </a:p>
                  </a:txBody>
                  <a:tcPr anchor="ctr" marL="64008" marR="64008" marT="9144" marB="9144"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1">
                          <a:solidFill>
                            <a:srgbClr val="0B5BDB"/>
                          </a:solidFill>
                          <a:latin typeface="둥근펜 Bold"/>
                        </a:rPr>
                        <a:t>0.461</a:t>
                      </a:r>
                    </a:p>
                  </a:txBody>
                  <a:tcPr anchor="ctr" marL="64008" marR="64008" marT="9144" marB="9144"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1">
                          <a:solidFill>
                            <a:srgbClr val="0B5BDB"/>
                          </a:solidFill>
                          <a:latin typeface="둥근펜 Bold"/>
                        </a:rPr>
                        <a:t>0.736</a:t>
                      </a:r>
                    </a:p>
                  </a:txBody>
                  <a:tcPr anchor="ctr" marL="64008" marR="64008" marT="9144" marB="9144"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1">
                          <a:solidFill>
                            <a:srgbClr val="0B5BDB"/>
                          </a:solidFill>
                          <a:latin typeface="둥근펜 Bold"/>
                        </a:rPr>
                        <a:t>+60%</a:t>
                      </a:r>
                    </a:p>
                  </a:txBody>
                  <a:tcPr anchor="ctr" marL="64008" marR="64008" marT="9144" marB="9144">
                    <a:solidFill>
                      <a:srgbClr val="EDF1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900" b="1">
                          <a:solidFill>
                            <a:srgbClr val="0B5BDB"/>
                          </a:solidFill>
                          <a:latin typeface="둥근펜 Bold"/>
                        </a:rPr>
                        <a:t>균형 정확도</a:t>
                      </a:r>
                    </a:p>
                  </a:txBody>
                  <a:tcPr anchor="ctr" marL="64008" marR="64008" marT="9144" marB="9144"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1">
                          <a:solidFill>
                            <a:srgbClr val="0B5BDB"/>
                          </a:solidFill>
                          <a:latin typeface="둥근펜 Bold"/>
                        </a:rPr>
                        <a:t>0.765</a:t>
                      </a:r>
                    </a:p>
                  </a:txBody>
                  <a:tcPr anchor="ctr" marL="64008" marR="64008" marT="9144" marB="9144"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1">
                          <a:solidFill>
                            <a:srgbClr val="0B5BDB"/>
                          </a:solidFill>
                          <a:latin typeface="둥근펜 Bold"/>
                        </a:rPr>
                        <a:t>0.844</a:t>
                      </a:r>
                    </a:p>
                  </a:txBody>
                  <a:tcPr anchor="ctr" marL="64008" marR="64008" marT="9144" marB="9144"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900" b="1">
                          <a:solidFill>
                            <a:srgbClr val="0B5BDB"/>
                          </a:solidFill>
                          <a:latin typeface="둥근펜 Bold"/>
                        </a:rPr>
                        <a:t>+10%</a:t>
                      </a:r>
                    </a:p>
                  </a:txBody>
                  <a:tcPr anchor="ctr" marL="64008" marR="64008" marT="9144" marB="9144">
                    <a:solidFill>
                      <a:srgbClr val="EDF1F8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1298448" y="9418320"/>
            <a:ext cx="1569110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6B7078"/>
                </a:solidFill>
                <a:latin typeface="둥근펜"/>
              </a:rPr>
              <a:t>clean 구간. 모델·특성·분할 동일, 평가 라벨 정의만 교정한 결과다.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461169" y="408679"/>
            <a:ext cx="17365662" cy="9469643"/>
            <a:chOff x="0" y="0"/>
            <a:chExt cx="4573672" cy="249406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573672" cy="2494062"/>
            </a:xfrm>
            <a:custGeom>
              <a:avLst/>
              <a:gdLst/>
              <a:ahLst/>
              <a:cxnLst/>
              <a:rect r="r" b="b" t="t" l="l"/>
              <a:pathLst>
                <a:path h="2494062" w="4573672">
                  <a:moveTo>
                    <a:pt x="0" y="0"/>
                  </a:moveTo>
                  <a:lnTo>
                    <a:pt x="4573672" y="0"/>
                  </a:lnTo>
                  <a:lnTo>
                    <a:pt x="4573672" y="2494062"/>
                  </a:lnTo>
                  <a:lnTo>
                    <a:pt x="0" y="2494062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95250"/>
              <a:ext cx="4573672" cy="258931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049"/>
                </a:lnSpc>
              </a:pPr>
            </a:p>
          </p:txBody>
        </p:sp>
      </p:grpSp>
      <p:sp>
        <p:nvSpPr>
          <p:cNvPr name="AutoShape 17" id="17"/>
          <p:cNvSpPr/>
          <p:nvPr/>
        </p:nvSpPr>
        <p:spPr>
          <a:xfrm>
            <a:off x="1298957" y="2326098"/>
            <a:ext cx="15690087" cy="0"/>
          </a:xfrm>
          <a:prstGeom prst="line">
            <a:avLst/>
          </a:prstGeom>
          <a:ln cap="flat" w="2857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id="18" name="TextBox 17"/>
          <p:cNvSpPr txBox="1"/>
          <p:nvPr/>
        </p:nvSpPr>
        <p:spPr>
          <a:xfrm>
            <a:off x="1828800" y="1261872"/>
            <a:ext cx="1463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B5BDB"/>
                </a:solidFill>
                <a:latin typeface="둥근펜 Bold"/>
              </a:rPr>
              <a:t>성능 평가 ② 제안 구성의 특장점</a:t>
            </a:r>
          </a:p>
        </p:txBody>
      </p:sp>
      <p:pic>
        <p:nvPicPr>
          <p:cNvPr id="19" name="Picture 18" descr="37_eval2_distinc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8213" y="2697480"/>
            <a:ext cx="11731573" cy="66751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298448" y="9189720"/>
            <a:ext cx="1569110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6B7078"/>
                </a:solidFill>
                <a:latin typeface="둥근펜"/>
              </a:rPr>
              <a:t>정밀도·확인부담·운영점·예측구간·신뢰도 등급·남은 여지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461169" y="408679"/>
            <a:ext cx="17365662" cy="9469643"/>
            <a:chOff x="0" y="0"/>
            <a:chExt cx="4573672" cy="249406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573672" cy="2494062"/>
            </a:xfrm>
            <a:custGeom>
              <a:avLst/>
              <a:gdLst/>
              <a:ahLst/>
              <a:cxnLst/>
              <a:rect r="r" b="b" t="t" l="l"/>
              <a:pathLst>
                <a:path h="2494062" w="4573672">
                  <a:moveTo>
                    <a:pt x="0" y="0"/>
                  </a:moveTo>
                  <a:lnTo>
                    <a:pt x="4573672" y="0"/>
                  </a:lnTo>
                  <a:lnTo>
                    <a:pt x="4573672" y="2494062"/>
                  </a:lnTo>
                  <a:lnTo>
                    <a:pt x="0" y="2494062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95250"/>
              <a:ext cx="4573672" cy="258931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049"/>
                </a:lnSpc>
              </a:pPr>
            </a:p>
          </p:txBody>
        </p:sp>
      </p:grpSp>
      <p:sp>
        <p:nvSpPr>
          <p:cNvPr name="AutoShape 17" id="17"/>
          <p:cNvSpPr/>
          <p:nvPr/>
        </p:nvSpPr>
        <p:spPr>
          <a:xfrm>
            <a:off x="1298957" y="2326098"/>
            <a:ext cx="15690087" cy="0"/>
          </a:xfrm>
          <a:prstGeom prst="line">
            <a:avLst/>
          </a:prstGeom>
          <a:ln cap="flat" w="2857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id="18" name="TextBox 17"/>
          <p:cNvSpPr txBox="1"/>
          <p:nvPr/>
        </p:nvSpPr>
        <p:spPr>
          <a:xfrm>
            <a:off x="1828800" y="1261872"/>
            <a:ext cx="1463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B5BDB"/>
                </a:solidFill>
                <a:latin typeface="둥근펜 Bold"/>
              </a:rPr>
              <a:t>오류 분석  -  어디서 놓치고 어디서 헛경고하는가</a:t>
            </a:r>
          </a:p>
        </p:txBody>
      </p:sp>
      <p:pic>
        <p:nvPicPr>
          <p:cNvPr id="19" name="Picture 18" descr="30_timeseries_fn_f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8349" y="2743200"/>
            <a:ext cx="11011301" cy="58521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298448" y="8823960"/>
            <a:ext cx="1569110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6B7078"/>
                </a:solidFill>
                <a:latin typeface="둥근펜"/>
              </a:rPr>
              <a:t>평가 전용 30일. 빨강 X = 미탐, 파랑 △ = 오경보. 고사용량 구간 MAE 가 전체의 1.6배로 가장 취약하다.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461169" y="408679"/>
            <a:ext cx="17365662" cy="9469643"/>
            <a:chOff x="0" y="0"/>
            <a:chExt cx="4573672" cy="249406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573672" cy="2494062"/>
            </a:xfrm>
            <a:custGeom>
              <a:avLst/>
              <a:gdLst/>
              <a:ahLst/>
              <a:cxnLst/>
              <a:rect r="r" b="b" t="t" l="l"/>
              <a:pathLst>
                <a:path h="2494062" w="4573672">
                  <a:moveTo>
                    <a:pt x="0" y="0"/>
                  </a:moveTo>
                  <a:lnTo>
                    <a:pt x="4573672" y="0"/>
                  </a:lnTo>
                  <a:lnTo>
                    <a:pt x="4573672" y="2494062"/>
                  </a:lnTo>
                  <a:lnTo>
                    <a:pt x="0" y="2494062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95250"/>
              <a:ext cx="4573672" cy="258931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049"/>
                </a:lnSpc>
              </a:pPr>
            </a:p>
          </p:txBody>
        </p:sp>
      </p:grpSp>
      <p:sp>
        <p:nvSpPr>
          <p:cNvPr name="AutoShape 17" id="17"/>
          <p:cNvSpPr/>
          <p:nvPr/>
        </p:nvSpPr>
        <p:spPr>
          <a:xfrm>
            <a:off x="1298957" y="2326098"/>
            <a:ext cx="15690087" cy="0"/>
          </a:xfrm>
          <a:prstGeom prst="line">
            <a:avLst/>
          </a:prstGeom>
          <a:ln cap="flat" w="2857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id="18" name="TextBox 17"/>
          <p:cNvSpPr txBox="1"/>
          <p:nvPr/>
        </p:nvSpPr>
        <p:spPr>
          <a:xfrm>
            <a:off x="1828800" y="1261872"/>
            <a:ext cx="1463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B5BDB"/>
                </a:solidFill>
                <a:latin typeface="둥근펜 Bold"/>
              </a:rPr>
              <a:t>운전 상태별 경보 성능  -  분모를 함께 본다</a:t>
            </a:r>
          </a:p>
        </p:txBody>
      </p:sp>
      <p:pic>
        <p:nvPicPr>
          <p:cNvPr id="19" name="Picture 18" descr="30_fnfp_by_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8448" y="3017520"/>
            <a:ext cx="15691104" cy="459301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298448" y="8138160"/>
            <a:ext cx="15691104" cy="6035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000000"/>
                </a:solidFill>
                <a:latin typeface="둥근펜 Bold"/>
              </a:rPr>
              <a:t>· 저부하 구간은 평가기간 내 고사용량 스텝이 0건  -  성능이 좋은 것이 아니라 정의되지 않는다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00000"/>
                </a:solidFill>
                <a:latin typeface="둥근펜 Bold"/>
              </a:rPr>
              <a:t>· 전환 구간의 미탐율이 낮아 보이지만 표본 24건으로 전체와 구간이 겹친다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461169" y="408679"/>
            <a:ext cx="17365662" cy="9469643"/>
            <a:chOff x="0" y="0"/>
            <a:chExt cx="4573672" cy="249406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573672" cy="2494062"/>
            </a:xfrm>
            <a:custGeom>
              <a:avLst/>
              <a:gdLst/>
              <a:ahLst/>
              <a:cxnLst/>
              <a:rect r="r" b="b" t="t" l="l"/>
              <a:pathLst>
                <a:path h="2494062" w="4573672">
                  <a:moveTo>
                    <a:pt x="0" y="0"/>
                  </a:moveTo>
                  <a:lnTo>
                    <a:pt x="4573672" y="0"/>
                  </a:lnTo>
                  <a:lnTo>
                    <a:pt x="4573672" y="2494062"/>
                  </a:lnTo>
                  <a:lnTo>
                    <a:pt x="0" y="2494062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95250"/>
              <a:ext cx="4573672" cy="258931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049"/>
                </a:lnSpc>
              </a:pPr>
            </a:p>
          </p:txBody>
        </p:sp>
      </p:grpSp>
      <p:sp>
        <p:nvSpPr>
          <p:cNvPr name="AutoShape 17" id="17"/>
          <p:cNvSpPr/>
          <p:nvPr/>
        </p:nvSpPr>
        <p:spPr>
          <a:xfrm>
            <a:off x="1298957" y="2326098"/>
            <a:ext cx="15690087" cy="0"/>
          </a:xfrm>
          <a:prstGeom prst="line">
            <a:avLst/>
          </a:prstGeom>
          <a:ln cap="flat" w="2857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id="18" name="TextBox 17"/>
          <p:cNvSpPr txBox="1"/>
          <p:nvPr/>
        </p:nvSpPr>
        <p:spPr>
          <a:xfrm>
            <a:off x="1828800" y="1261872"/>
            <a:ext cx="1463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B5BDB"/>
                </a:solidFill>
                <a:latin typeface="둥근펜 Bold"/>
              </a:rPr>
              <a:t>예측구간  -  불확실성을 숫자로 함께 낸다</a:t>
            </a:r>
          </a:p>
        </p:txBody>
      </p:sp>
      <p:pic>
        <p:nvPicPr>
          <p:cNvPr id="19" name="Picture 18" descr="23_baseline_fig2_forecast_interv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8448" y="2926080"/>
            <a:ext cx="15691104" cy="4775553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298448" y="8229600"/>
            <a:ext cx="15691104" cy="6035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000000"/>
                </a:solidFill>
                <a:latin typeface="둥근펜 Bold"/>
              </a:rPr>
              <a:t>· 전체 적중률 0.872 · 고사용량 구간 0.556  -  목표 0.90 에 미달한다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00000"/>
                </a:solidFill>
                <a:latin typeface="둥근펜 Bold"/>
              </a:rPr>
              <a:t>· 신뢰도 등급 HIGH/MEDIUM/LOW 의 실제 오차가 4.7 / 10.3 / 13.6 kw 로 순서가 일치한다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461169" y="408679"/>
            <a:ext cx="17365662" cy="9469643"/>
            <a:chOff x="0" y="0"/>
            <a:chExt cx="4573672" cy="249406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573672" cy="2494062"/>
            </a:xfrm>
            <a:custGeom>
              <a:avLst/>
              <a:gdLst/>
              <a:ahLst/>
              <a:cxnLst/>
              <a:rect r="r" b="b" t="t" l="l"/>
              <a:pathLst>
                <a:path h="2494062" w="4573672">
                  <a:moveTo>
                    <a:pt x="0" y="0"/>
                  </a:moveTo>
                  <a:lnTo>
                    <a:pt x="4573672" y="0"/>
                  </a:lnTo>
                  <a:lnTo>
                    <a:pt x="4573672" y="2494062"/>
                  </a:lnTo>
                  <a:lnTo>
                    <a:pt x="0" y="2494062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95250"/>
              <a:ext cx="4573672" cy="258931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049"/>
                </a:lnSpc>
              </a:pPr>
            </a:p>
          </p:txBody>
        </p:sp>
      </p:grpSp>
      <p:sp>
        <p:nvSpPr>
          <p:cNvPr name="AutoShape 17" id="17"/>
          <p:cNvSpPr/>
          <p:nvPr/>
        </p:nvSpPr>
        <p:spPr>
          <a:xfrm>
            <a:off x="1298957" y="2326098"/>
            <a:ext cx="15690087" cy="0"/>
          </a:xfrm>
          <a:prstGeom prst="line">
            <a:avLst/>
          </a:prstGeom>
          <a:ln cap="flat" w="2857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id="18" name="TextBox 17"/>
          <p:cNvSpPr txBox="1"/>
          <p:nvPr/>
        </p:nvSpPr>
        <p:spPr>
          <a:xfrm>
            <a:off x="1828800" y="1261872"/>
            <a:ext cx="1463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B5BDB"/>
                </a:solidFill>
                <a:latin typeface="둥근펜 Bold"/>
              </a:rPr>
              <a:t>현장 활용  -  사건당 한 번, 남은 준비시간과 함께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298448" y="3017520"/>
          <a:ext cx="15691102" cy="35661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494390"/>
                <a:gridCol w="6724758"/>
                <a:gridCol w="7471954"/>
              </a:tblGrid>
              <a:tr h="713232">
                <a:tc>
                  <a:txBody>
                    <a:bodyPr/>
                    <a:lstStyle/>
                    <a:p>
                      <a:pPr algn="r"/>
                      <a:r>
                        <a:rPr sz="1700" b="1">
                          <a:solidFill>
                            <a:srgbClr val="FFFFFF"/>
                          </a:solidFill>
                          <a:latin typeface="둥근펜 Bold"/>
                        </a:rPr>
                        <a:t>선행(분)</a:t>
                      </a:r>
                    </a:p>
                  </a:txBody>
                  <a:tcPr anchor="ctr" marL="64008" marR="64008">
                    <a:solidFill>
                      <a:srgbClr val="0B5BD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1">
                          <a:solidFill>
                            <a:srgbClr val="FFFFFF"/>
                          </a:solidFill>
                          <a:latin typeface="둥근펜 Bold"/>
                        </a:rPr>
                        <a:t>근거</a:t>
                      </a:r>
                    </a:p>
                  </a:txBody>
                  <a:tcPr anchor="ctr" marL="64008" marR="64008">
                    <a:solidFill>
                      <a:srgbClr val="0B5BD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1">
                          <a:solidFill>
                            <a:srgbClr val="FFFFFF"/>
                          </a:solidFill>
                          <a:latin typeface="둥근펜 Bold"/>
                        </a:rPr>
                        <a:t>역할</a:t>
                      </a:r>
                    </a:p>
                  </a:txBody>
                  <a:tcPr anchor="ctr" marL="64008" marR="64008">
                    <a:solidFill>
                      <a:srgbClr val="0B5BDB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000000"/>
                          </a:solidFill>
                          <a:latin typeface="둥근펜"/>
                        </a:rPr>
                        <a:t>15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둥근펜"/>
                        </a:rPr>
                        <a:t>한전 수요시한(디멘드 타임) 15분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둥근펜"/>
                        </a:rPr>
                        <a:t>기존 제어기가 이미 커버하는 구간. h15 는 '기존 수준 재현' 비교군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000000"/>
                          </a:solidFill>
                          <a:latin typeface="둥근펜"/>
                        </a:rPr>
                        <a:t>60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둥근펜"/>
                        </a:rPr>
                        <a:t>KPX 수요자원 거래시장 감축요청 통보 리드타임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둥근펜"/>
                        </a:rPr>
                        <a:t>h60 = 제도상 표준 통보 리드타임과 일치. 본 시스템의 주 호라이즌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000000"/>
                          </a:solidFill>
                          <a:latin typeface="둥근펜"/>
                        </a:rPr>
                        <a:t>30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둥근펜"/>
                        </a:rPr>
                        <a:t>KPX 추가 감축요청 여유(30분)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둥근펜"/>
                        </a:rPr>
                        <a:t>minimum_lead_minutes=30 의 근거. 이보다 짧으면 제도적 조치 창이 없음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r"/>
                      <a:r>
                        <a:rPr sz="1700" b="0">
                          <a:solidFill>
                            <a:srgbClr val="000000"/>
                          </a:solidFill>
                          <a:latin typeface="둥근펜"/>
                        </a:rPr>
                        <a:t>30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둥근펜"/>
                        </a:rPr>
                        <a:t>산업 수요관리 스케줄링의 표준 시간슬롯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700" b="0">
                          <a:solidFill>
                            <a:srgbClr val="000000"/>
                          </a:solidFill>
                          <a:latin typeface="둥근펜"/>
                        </a:rPr>
                        <a:t>30분 하한의 문헌적 보강</a:t>
                      </a:r>
                    </a:p>
                  </a:txBody>
                  <a:tcPr anchor="ctr" marL="64008" marR="64008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1298448" y="7589520"/>
            <a:ext cx="15691104" cy="6035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1">
                <a:solidFill>
                  <a:srgbClr val="000000"/>
                </a:solidFill>
                <a:latin typeface="둥근펜 Bold"/>
              </a:rPr>
              <a:t>· 알림 내용은 셋뿐  -  초과 예상 시각 · 남은 준비시간(분) · 확신도</a:t>
            </a:r>
          </a:p>
          <a:p>
            <a:pPr>
              <a:spcAft>
                <a:spcPts val="1600"/>
              </a:spcAft>
            </a:pPr>
            <a:r>
              <a:rPr sz="2200" b="1">
                <a:solidFill>
                  <a:srgbClr val="000000"/>
                </a:solidFill>
                <a:latin typeface="둥근펜 Bold"/>
              </a:rPr>
              <a:t>· 근거는 UI 가 아니라 수치다  -  포착한 사건 수와 확인 부담(건/일)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461169" y="408679"/>
            <a:ext cx="17365662" cy="9469643"/>
            <a:chOff x="0" y="0"/>
            <a:chExt cx="4573672" cy="249406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4573672" cy="2494062"/>
            </a:xfrm>
            <a:custGeom>
              <a:avLst/>
              <a:gdLst/>
              <a:ahLst/>
              <a:cxnLst/>
              <a:rect r="r" b="b" t="t" l="l"/>
              <a:pathLst>
                <a:path h="2494062" w="4573672">
                  <a:moveTo>
                    <a:pt x="0" y="0"/>
                  </a:moveTo>
                  <a:lnTo>
                    <a:pt x="4573672" y="0"/>
                  </a:lnTo>
                  <a:lnTo>
                    <a:pt x="4573672" y="2494062"/>
                  </a:lnTo>
                  <a:lnTo>
                    <a:pt x="0" y="2494062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95250"/>
              <a:ext cx="4573672" cy="258931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049"/>
                </a:lnSpc>
              </a:pPr>
            </a:p>
          </p:txBody>
        </p:sp>
      </p:grpSp>
      <p:sp>
        <p:nvSpPr>
          <p:cNvPr name="AutoShape 17" id="17"/>
          <p:cNvSpPr/>
          <p:nvPr/>
        </p:nvSpPr>
        <p:spPr>
          <a:xfrm>
            <a:off x="1298957" y="2326098"/>
            <a:ext cx="15690087" cy="0"/>
          </a:xfrm>
          <a:prstGeom prst="line">
            <a:avLst/>
          </a:prstGeom>
          <a:ln cap="flat" w="28575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id="18" name="TextBox 17"/>
          <p:cNvSpPr txBox="1"/>
          <p:nvPr/>
        </p:nvSpPr>
        <p:spPr>
          <a:xfrm>
            <a:off x="1828800" y="1261872"/>
            <a:ext cx="1463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B5BDB"/>
                </a:solidFill>
                <a:latin typeface="둥근펜 Bold"/>
              </a:rPr>
              <a:t>재현성, 그리고 아직 주장하지 않는 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8448" y="3108960"/>
            <a:ext cx="15691104" cy="6035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</a:pPr>
            <a:r>
              <a:rPr sz="2400" b="1">
                <a:solidFill>
                  <a:srgbClr val="000000"/>
                </a:solidFill>
                <a:latin typeface="둥근펜 Bold"/>
              </a:rPr>
              <a:t>· 명령 한 줄로 전처리 -&gt; 학습 -&gt; 추론 -&gt; 결과 생성 · 시드 고정 · CPU 전용</a:t>
            </a:r>
          </a:p>
          <a:p>
            <a:pPr>
              <a:spcAft>
                <a:spcPts val="2000"/>
              </a:spcAft>
            </a:pPr>
            <a:r>
              <a:rPr sz="2400" b="1">
                <a:solidFill>
                  <a:srgbClr val="000000"/>
                </a:solidFill>
                <a:latin typeface="둥근펜 Bold"/>
              </a:rPr>
              <a:t>· 모든 수치는 analysis/tables 의 CSV 에서 읽어 이 장표와 보고서를 생성했다</a:t>
            </a:r>
          </a:p>
          <a:p>
            <a:pPr>
              <a:spcAft>
                <a:spcPts val="2000"/>
              </a:spcAft>
            </a:pPr>
            <a:r>
              <a:rPr sz="2400" b="1">
                <a:solidFill>
                  <a:srgbClr val="000000"/>
                </a:solidFill>
                <a:latin typeface="둥근펜 Bold"/>
              </a:rPr>
              <a:t>· 주장하지 않는 것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6B7078"/>
                </a:solidFill>
                <a:latin typeface="둥근펜"/>
              </a:rPr>
              <a:t>     - 절감액(원)  -  계약전력·요금 조건 미확인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6B7078"/>
                </a:solidFill>
                <a:latin typeface="둥근펜"/>
              </a:rPr>
              <a:t>     - 설비 단위 원인·조치  -  설비 식별자 없음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6B7078"/>
                </a:solidFill>
                <a:latin typeface="둥근펜"/>
              </a:rPr>
              <a:t>     - 고사용량 구간 예측구간 적중률 0.56  -  목표 0.90 미달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6B7078"/>
                </a:solidFill>
                <a:latin typeface="둥근펜"/>
              </a:rPr>
              <a:t>     - 기각한 가설 9건을 보고서에 그대로 남겼다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DAHXaJRAMhE</dc:identifier>
  <dcterms:modified xsi:type="dcterms:W3CDTF">2011-08-01T06:04:30Z</dcterms:modified>
  <cp:revision>1</cp:revision>
  <dc:title>검은색과 파란색 미니멀한 프레젠테이션 발표</dc:title>
</cp:coreProperties>
</file>