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109728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1A1A"/>
                </a:solidFill>
                <a:latin typeface="맑은 고딕"/>
              </a:rPr>
              <a:t>센서가 부족한 공장의 전력 고사용량 조기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555A60"/>
                </a:solidFill>
                <a:latin typeface="맑은 고딕"/>
              </a:rPr>
              <a:t>15분 수요·생산량·날씨·달력만으로 1시간 뒤 수요를 예측하고,</a:t>
            </a:r>
          </a:p>
          <a:p>
            <a:r>
              <a:rPr sz="1700">
                <a:solidFill>
                  <a:srgbClr val="555A60"/>
                </a:solidFill>
                <a:latin typeface="맑은 고딕"/>
              </a:rPr>
              <a:t>조치 가능한 선행시간 안에 고사용량 발생을 판단한다.</a:t>
            </a:r>
          </a:p>
          <a:p>
            <a:r>
              <a:rPr sz="1300">
                <a:solidFill>
                  <a:srgbClr val="1F5C99"/>
                </a:solidFill>
                <a:latin typeface="맑은 고딕"/>
              </a:rPr>
              <a:t>제6회 K-인공지능 제조데이터 분석 경진대회 — 주제 ⑤ 자원 최적화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7763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F5C99"/>
                </a:solidFill>
                <a:latin typeface="맑은 고딕"/>
              </a:rPr>
              <a:t>수치 예측 — h60 MAE 8.773 → 7.790 kw (-11.2%), 고사용량 구간 20.878 → 15.649 kw (-25.0%)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3434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0392B"/>
                </a:solidFill>
                <a:latin typeface="맑은 고딕"/>
              </a:rPr>
              <a:t>고사용량 경보 — F1 0.468 (persistence 규칙 0.305, 무편향 오라클 상한 0.693) · 사건 recall 0.903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무엇을 푸는가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설비 센서가 없는 공장. 가진 것은 15분 수요·생산량·관측 날씨·달력뿐이다.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A1A1A"/>
                </a:solidFill>
                <a:latin typeface="맑은 고딕"/>
              </a:rPr>
              <a:t>■ 주(main) — 시계열 패턴 정밀 판단: 결정시점 t 에서 t+15/30/45/60분 수요를 각각 직접 예측</a:t>
            </a:r>
          </a:p>
          <a:p>
            <a:pPr lvl="1">
              <a:spcAft>
                <a:spcPts val="500"/>
              </a:spcAft>
            </a:pPr>
            <a:r>
              <a:rPr sz="1350" b="0">
                <a:solidFill>
                  <a:srgbClr val="555A60"/>
                </a:solidFill>
                <a:latin typeface="맑은 고딕"/>
              </a:rPr>
              <a:t>– 15분은 한전 요금적용전력의 측정 단위다. 해상도를 임의로 고른 것이 아니다.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A1A1A"/>
                </a:solidFill>
                <a:latin typeface="맑은 고딕"/>
              </a:rPr>
              <a:t>■ 부(sub) — 조치 가능한 선행시간 확보: 고사용량 도달 전에 알린다</a:t>
            </a:r>
          </a:p>
          <a:p>
            <a:pPr lvl="1">
              <a:spcAft>
                <a:spcPts val="500"/>
              </a:spcAft>
            </a:pPr>
            <a:r>
              <a:rPr sz="1350" b="0">
                <a:solidFill>
                  <a:srgbClr val="555A60"/>
                </a:solidFill>
                <a:latin typeface="맑은 고딕"/>
              </a:rPr>
              <a:t>– KPX 수요자원 거래시장은 감축요청을 60분 전 통보하고 부족분을 30분 내 추가 요청한다 → h60 이 제도상 표준 리드타임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A1A1A"/>
                </a:solidFill>
                <a:latin typeface="맑은 고딕"/>
              </a:rPr>
              <a:t>■ 부(sub·의사결정) — 판단이 서지 않을 때 그 사실과 부족한 정보의 종류를 말한다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A1A1A"/>
                </a:solidFill>
                <a:latin typeface="맑은 고딕"/>
              </a:rPr>
              <a:t>■ 하지 않는 것</a:t>
            </a:r>
          </a:p>
          <a:p>
            <a:pPr lvl="1">
              <a:spcAft>
                <a:spcPts val="500"/>
              </a:spcAft>
            </a:pPr>
            <a:r>
              <a:rPr sz="1350" b="0">
                <a:solidFill>
                  <a:srgbClr val="555A60"/>
                </a:solidFill>
                <a:latin typeface="맑은 고딕"/>
              </a:rPr>
              <a:t>– 설비 단위 조치 지시 · 고장 심각도 순위 · 절감액(원) 주장 — 근거 데이터가 없다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제1장 · 데이터 이해 — 업종과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선박엔진용 볼트·너트 제조 1개 공장, 2021-01-01~09-14, 6,168행×18열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변수 구성: 전력 15/30/45/60분(15분 수요), 평균, 생산량, 기온·풍속·습도·강수, 전기요금(계절), 달력, 공장인원, 인건비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제외한 변수와 이유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'평균' = 같은 시간 4개 분값의 평균 → 타깃을 포함한다(누수). 전면 제외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'공장인원' = 생산량과 Spearman 0.994 중복 / '인건비' = 고유값 2개 사실상 상수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복구한 결함: 2021-07-13·07-15 의 '시간' 열이 전력값으로 덮여 있었다 → 행 순서로 재구성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확인한 결측 의심: kw 정확히 0 인 74 스텝(08-28 25, 08-29 47, 09-08 2). 정지 중 기저부하는 22 kw 수준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제1장 · 데이터 진단 — 합성 증강 중복일을 찾아냈다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파일명의 'augumented' 가 실제로 무엇인지 하루 단위 전력 프로파일 해시로 확인했다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전체 기간: 257일 중 160일이 96스텝 전력 프로파일이 완전히 동일 — 45개 그룹, 잉여 115일 (전체의 62.3%)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분석 구간(2021-07-01 이후): 76일 중 중복 2일(1개 그룹)뿐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왜 중요한가 — 중복일이 같은 fold 의 TRAIN 과 TEST 양쪽에 들어가면 성능이 부풀려진다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3429000"/>
          <a:ext cx="1005840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fold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TEST 시작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TEST 끝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TRAIN/TEST 걸친 중복그룹 수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TEST 전부 clean 구간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2021-02-18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2021-04-01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False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2021-04-01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2021-05-12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False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2021-05-12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2021-06-23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False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2021-06-23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2021-08-04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False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2021-08-04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2021-09-14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263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0392B"/>
                </a:solidFill>
                <a:latin typeface="맑은 고딕"/>
              </a:rPr>
              <a:t>→ fold 0·2 는 중복일이 양쪽에 걸쳐 평가가 오염된다. fold 4(8/4~9/14)만 0개. 주 보고 구간을 clean_Jul_Sep 으로 고정한 이유다.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제1장 · 라벨 정의 — '직전 30일 p95' 는 어디서 왔는가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한전 요금적용전력 = 15분 평균전력의 월 최대 1점(검침 당월 포함 직전 12개월 중 7~9월·12~2월분 최대)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15분 해상도 — 과금 측정 단위와 동일. 임의 선택 아님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직전 ~30일 창 — 검침월(과금 주기)과 정합. 계절·생산량 변화를 따라간다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p95 는 과금 규칙이 아니라 모델링 선택이다 — '월 최대 1점'을 라벨로 쓰면 월당 양성 1건으로 학습·평가가 불가능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분석 구간 2021-07~09 는 연간 기본요금을 결정하는 하계 피크월에 해당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3246120"/>
          <a:ext cx="1060704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5291"/>
                <a:gridCol w="1515291"/>
                <a:gridCol w="1515291"/>
                <a:gridCol w="1515291"/>
                <a:gridCol w="1515291"/>
                <a:gridCol w="1515291"/>
                <a:gridCol w="1515294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기준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피크 스텝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발생률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사건 수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임계 평균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임계 표준편차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일평균 변화(kw)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trailing14d_p95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179.023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7.812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0.673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trailing30d_p90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2324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0.100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837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171.015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6.339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0.629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trailing30d_p95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179.070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6.948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0.487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trailing30d_p97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736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0.032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363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183.410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7.533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0.461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trailing60d_p95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1242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178.778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5.762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0.322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trailing90d_p95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1322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0.057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559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178.230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4.176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0.227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fixed_187kw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187.000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263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맑은 고딕"/>
              </a:rPr>
              <a:t>창이 짧을수록 임계가 흔들리고(14일 일변화 0.839 kw) 길수록 둔해진다(90일 0.227). 30일은 적응속도와 안정성의 절충이며 과금 주기와 맞는 지점이다 — 최적화 결과가 아니라 선택이다.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제2장 · 평가 규약 — 비교가 가능하도록 먼저 고정했다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모든 변형은 같은 fold·같은 적합집합·같은 TEST 에서만 비교한다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Rolling-origin (TimeSeriesSplit 5 fold). fold 내부를 TRAIN / CAL(앞 구간의 뒤 20%) / TEST 로 분리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임계·보정계수·가중치·스케일러·OOD 컷은 전부 TRAIN(+CAL)에서만 적합. TEST 는 적용만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랜덤 분할 금지. 시간 역행 금지. 타깃 파생 변수 금지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주 보고 구간: clean_Jul_Sep (2021-07-01 ~ 09-14, 7,289 OOF 스텝, 고사용량 419 스텝)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두 축을 끝까지 섞지 않는다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수치 예측 성능 = MAE / RMSE / 고사용량 구간 MAE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경고 성능 = FN · FP · F1 (분모를 항상 같이 적는다)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사전 선언한 채택 규칙으로만 판정한다. 돌려본 뒤 기준을 바꾸지 않는다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제2장 · 모델 비교 — 기준선 3종 + 점진 개선 6종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전 구간(Feb~Sep) OOF 평균. 기준선을 포함해 2개 이상 모델을 같은 조건에서 비교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63040"/>
          <a:ext cx="109728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0175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모델 (h60)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MAE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RMSE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고사용량 MAE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MAE 변화%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고사용량 MAE 변화%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직전값 지속(기준선)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17.271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28.142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36.592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82.689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104.473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Ridge(기준선)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16.035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23.232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36.407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69.621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103.434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RandomForest(기준선)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9.262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17.055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14.708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-2.029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-17.813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HGB 기본 ★v1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9.454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15.816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17.896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0.000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0.000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+ 잔차타깃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8.421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13.489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16.421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-10.919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-8.244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+ 주기 인코딩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8.920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15.337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18.931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-5.646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5.784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+ 극단가중(SERA)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9.749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16.568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14.655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3.120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-18.113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+ 휴무·재가동 특성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9.438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15.564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17.906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-0.162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0.054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A5 전체 결합 ★최종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8.047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13.223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13.619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-14.879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-23.902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6263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맑은 고딕"/>
              </a:rPr>
              <a:t>트리 기반을 쓴 이유: 표본 7천 스텝·CPU 전용 환경에서 재현 가능하고, 계단형 레벨 변화(가동/정지)를 분할로 바로 처리한다. 심층 모델은 쓰지 않았다.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제2장 · 최종 성능 — clean 구간, 네 호라이즌 전부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A5(잔차타깃 + 주기인코딩 + 극단가중 + 휴무·재가동 특성) vs A0(v1 기본)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63040"/>
          <a:ext cx="1060704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5291"/>
                <a:gridCol w="1515291"/>
                <a:gridCol w="1515291"/>
                <a:gridCol w="1515291"/>
                <a:gridCol w="1515291"/>
                <a:gridCol w="1515291"/>
                <a:gridCol w="1515294"/>
              </a:tblGrid>
              <a:tr h="30175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선행(분)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A0 MAE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A5 MAE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A0 고사용량 MAE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A5 고사용량 MAE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MAE 개선%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고사용량 MAE 개선%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5.719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5.115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13.298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10.049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-10.563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-24.433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7.379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6.950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18.631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13.482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-5.802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-27.636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8.343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7.466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20.012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14.724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-10.520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-26.426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8.773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7.790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20.878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15.649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-11.201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-25.045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3474720"/>
          <a:ext cx="10607040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  <a:gridCol w="1767840"/>
                <a:gridCol w="1767840"/>
                <a:gridCol w="176784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선행(분)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범위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MAE 차(A5-A0)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95% CI 하한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95% CI 상한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개선 유의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-0.604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-1.044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-0.296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peak_only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-3.249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-4.318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-2.235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True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-0.428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-0.850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-0.055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peak_only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-5.149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-6.462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-3.925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True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-0.878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-1.840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-0.215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peak_only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-5.288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-6.882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-3.903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True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-0.983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-1.848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-0.288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peak_only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-5.229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-6.468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-3.943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True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263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F5C99"/>
                </a:solidFill>
                <a:latin typeface="맑은 고딕"/>
              </a:rPr>
              <a:t>일 단위 블록 부트스트랩 1,000회(시간 상관 보정). 8개 비교 전부 CI 상한 &lt; 0 — 우연이 아니다.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제2장 · 모델 비교 ① 수치 예측 — 베이스라인 포함 6종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전부 동일 조건(동일 fold·적합집합·v2 레시피). 전 구간 OOF, h60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63040"/>
          <a:ext cx="1097280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0175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모델 (h60)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MAE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RMSE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고사용량 MAE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고사용량 편향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오차 p95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직전값 지속 (베이스라인)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17.271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28.142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36.592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34.308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64.450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Ridge (베이스라인)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15.907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22.409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33.486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32.305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47.114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RandomForest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6.648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12.420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13.843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13.132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22.606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ExtraTrees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6.626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12.506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13.426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12.836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22.028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HistGBM ★현행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8.114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13.317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13.857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12.427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24.198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HistGBM-deep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7.424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12.770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14.606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13.561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23.632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65760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1A1A1A"/>
                </a:solidFill>
                <a:latin typeface="맑은 고딕"/>
              </a:rPr>
              <a:t>■ 사전 선언 선정 규칙: (a) 4개 horizon 전부 MAE 악화 없음 AND (b) h60 블록 부트스트랩 CI 상한&lt;0 AND (c) 고사용량 MAE 악화 없음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1A1A1A"/>
                </a:solidFill>
                <a:latin typeface="맑은 고딕"/>
              </a:rPr>
              <a:t>■ ExtraTrees — (a)(b) 충족, (c) 위반 → 기각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555A60"/>
                </a:solidFill>
                <a:latin typeface="맑은 고딕"/>
              </a:rPr>
              <a:t>– 전체 MAE 는 h60 −0.786 kw (CI [−1.007, −0.578]) 로 유의 개선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555A60"/>
                </a:solidFill>
                <a:latin typeface="맑은 고딕"/>
              </a:rPr>
              <a:t>– 그러나 고사용량 구간 MAE 는 h45 +0.714 (CI [+0.043, +1.395]), h60 +1.237 (CI [+0.515, +1.911]) 로 유의 악화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1A1A1A"/>
                </a:solidFill>
                <a:latin typeface="맑은 고딕"/>
              </a:rPr>
              <a:t>■ 평균 오차를 사는 대신 정작 맞혀야 할 구간을 깎는다 → 받아들이지 않는다. HistGBM 유지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제2장 · 모델 비교 ② 고사용량 경보 — 베이스라인 포함 9종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clean_Jul_Sep, h60, OOF 7,288 스텝 / 419 양성 / 186 사건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6304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9520"/>
                <a:gridCol w="1239520"/>
                <a:gridCol w="1239520"/>
                <a:gridCol w="1239520"/>
                <a:gridCol w="1239520"/>
                <a:gridCol w="1239520"/>
                <a:gridCol w="1239520"/>
                <a:gridCol w="1239520"/>
                <a:gridCol w="123952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F1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정밀도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재현율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사건 recall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경보/일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TP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FP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FN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ExtraTrees(balanced) ★선정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0.481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0.726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0.903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11.131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HistGBM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0.455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0.329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0.740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0.903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12.422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310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633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109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분위회귀 q0.90 마진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0.436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0.432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0.439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0.710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5.611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Logistic (베이스라인)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0.406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0.345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0.494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0.731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7.903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393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212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RandomForest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0.396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0.606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0.882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11.381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persistence 규칙 (베이스라인)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0.327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0.298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0.363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0.661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6.718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152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358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267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회귀 마진 (현행 점예측)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0.322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0.318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0.327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0.651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5.677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스태킹+isotonic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0.251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0.244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0.258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0.565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5.822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108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334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311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스태킹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0.244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0.258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0.570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5.835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6035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0392B"/>
                </a:solidFill>
                <a:latin typeface="맑은 고딕"/>
              </a:rPr>
              <a:t>선정 규칙(제약은 실험 이전부터 config 에 있던 operator_advisory_capacity=12): 경보 12건/일 이하 후보 중 clean F1 최대, 동점 시 사건 recall. HistGBM 은 12.4건/일로 용량 초과. 스태킹은 전 구간 F1 0.477 이었으나 clean 에서 0.251 로 붕괴(중복일 과적합) → 기각.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제3장 · F1 감사 — 0.47 은 한계인가 결함인가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같은 크기의 오차를 '편향 없이' 가졌을 때의 F1 상한을 측정했다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63040"/>
          <a:ext cx="603504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0175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MAE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전체 편향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고사용량 편향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피크 중 임계초과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오라클 F1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HistGBM ★현행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7.862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-0.962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14.750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0.184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0.693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ExtraTrees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7.077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0.155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16.142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0.126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0.710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RandomForest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7.595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0.208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16.931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0.119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0.698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HistGBM-deep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7.853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-0.055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17.098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0.134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0.692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직전값 지속 (베이스라인)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16.827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0.021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29.504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0.334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0.552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Ridge (베이스라인)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15.723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-0.098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31.996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0.057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0.544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0" y="155448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1A1A1A"/>
                </a:solidFill>
                <a:latin typeface="맑은 고딕"/>
              </a:rPr>
              <a:t>■ 결함이다. 본질적 한계가 아니다</a:t>
            </a:r>
          </a:p>
          <a:p>
            <a:pPr lvl="1">
              <a:spcAft>
                <a:spcPts val="500"/>
              </a:spcAft>
            </a:pPr>
            <a:r>
              <a:rPr sz="1100" b="0">
                <a:solidFill>
                  <a:srgbClr val="555A60"/>
                </a:solidFill>
                <a:latin typeface="맑은 고딕"/>
              </a:rPr>
              <a:t>– 현재 F1 0.468 vs 무편향 오라클 0.693 — 격차 0.225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1A1A1A"/>
                </a:solidFill>
                <a:latin typeface="맑은 고딕"/>
              </a:rPr>
              <a:t>■ 원인: 고사용량 구간에서만 +14.75 kw 과소예측</a:t>
            </a:r>
          </a:p>
          <a:p>
            <a:pPr lvl="1">
              <a:spcAft>
                <a:spcPts val="500"/>
              </a:spcAft>
            </a:pPr>
            <a:r>
              <a:rPr sz="1100" b="0">
                <a:solidFill>
                  <a:srgbClr val="555A60"/>
                </a:solidFill>
                <a:latin typeface="맑은 고딕"/>
              </a:rPr>
              <a:t>– 전체 편향은 −0.96 kw 로 거의 0 인데 피크에서만 치우친다</a:t>
            </a:r>
          </a:p>
          <a:p>
            <a:pPr lvl="1">
              <a:spcAft>
                <a:spcPts val="500"/>
              </a:spcAft>
            </a:pPr>
            <a:r>
              <a:rPr sz="1100" b="0">
                <a:solidFill>
                  <a:srgbClr val="555A60"/>
                </a:solidFill>
                <a:latin typeface="맑은 고딕"/>
              </a:rPr>
              <a:t>– 고사용량 스텝의 81.6% 는 점예측이 임계선에 도달조차 못 한다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1A1A1A"/>
                </a:solidFill>
                <a:latin typeface="맑은 고딕"/>
              </a:rPr>
              <a:t>■ MAE 를 최소화하면 조건부 평균으로 수렴 → 분포 오른쪽 꼬리를 구조적으로 깎는다</a:t>
            </a:r>
          </a:p>
          <a:p>
            <a:pPr lvl="1">
              <a:spcAft>
                <a:spcPts val="500"/>
              </a:spcAft>
            </a:pPr>
            <a:r>
              <a:rPr sz="1100" b="0">
                <a:solidFill>
                  <a:srgbClr val="555A60"/>
                </a:solidFill>
                <a:latin typeface="맑은 고딕"/>
              </a:rPr>
              <a:t>– MAE 가 좋아져도 F1 이 따라오지 않는 이유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1A1A1A"/>
                </a:solidFill>
                <a:latin typeface="맑은 고딕"/>
              </a:rPr>
              <a:t>■ 라벨의 59.2% 가 임계선 ±MAE 이내 — 경계 밀집. 단, 오라클이 이를 포함하고도 0.69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제3장 · 지금 수준을 솔직하게 적으면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clean_Jul_Sep, h60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63040"/>
          <a:ext cx="1060704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680"/>
                <a:gridCol w="3535680"/>
                <a:gridCol w="3535680"/>
              </a:tblGrid>
              <a:tr h="301752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기준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F1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의미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A1A"/>
                          </a:solidFill>
                          <a:latin typeface="맑은 고딕"/>
                        </a:rPr>
                        <a:t>사전확률(모두 경보)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A1A"/>
                          </a:solidFill>
                          <a:latin typeface="맑은 고딕"/>
                        </a:rPr>
                        <a:t>0.111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A1A"/>
                          </a:solidFill>
                          <a:latin typeface="맑은 고딕"/>
                        </a:rPr>
                        <a:t>하한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A1A"/>
                          </a:solidFill>
                          <a:latin typeface="맑은 고딕"/>
                        </a:rPr>
                        <a:t>persistence 규칙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A1A"/>
                          </a:solidFill>
                          <a:latin typeface="맑은 고딕"/>
                        </a:rPr>
                        <a:t>0.305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A1A"/>
                          </a:solidFill>
                          <a:latin typeface="맑은 고딕"/>
                        </a:rPr>
                        <a:t>단순 규칙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A1A"/>
                          </a:solidFill>
                          <a:latin typeface="맑은 고딕"/>
                        </a:rPr>
                        <a:t>회귀 마진(현행 점예측)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A1A"/>
                          </a:solidFill>
                          <a:latin typeface="맑은 고딕"/>
                        </a:rPr>
                        <a:t>0.322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A1A"/>
                          </a:solidFill>
                          <a:latin typeface="맑은 고딕"/>
                        </a:rPr>
                        <a:t>점예측을 그대로 경보에 쓸 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A1A"/>
                          </a:solidFill>
                          <a:latin typeface="맑은 고딕"/>
                        </a:rPr>
                        <a:t>이전 주 모델 HGB+isotonic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A1A"/>
                          </a:solidFill>
                          <a:latin typeface="맑은 고딕"/>
                        </a:rPr>
                        <a:t>0.434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A1A"/>
                          </a:solidFill>
                          <a:latin typeface="맑은 고딕"/>
                        </a:rPr>
                        <a:t>교체 전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A1A"/>
                          </a:solidFill>
                          <a:latin typeface="맑은 고딕"/>
                        </a:rPr>
                        <a:t>현재 ET+isotonic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A1A"/>
                          </a:solidFill>
                          <a:latin typeface="맑은 고딕"/>
                        </a:rPr>
                        <a:t>0.468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A1A"/>
                          </a:solidFill>
                          <a:latin typeface="맑은 고딕"/>
                        </a:rPr>
                        <a:t>persistence 대비 +53%, 사전확률 대비 4.2배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A1A"/>
                          </a:solidFill>
                          <a:latin typeface="맑은 고딕"/>
                        </a:rPr>
                        <a:t>무편향 오라클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A1A"/>
                          </a:solidFill>
                          <a:latin typeface="맑은 고딕"/>
                        </a:rPr>
                        <a:t>0.693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A1A"/>
                          </a:solidFill>
                          <a:latin typeface="맑은 고딕"/>
                        </a:rPr>
                        <a:t>같은 오차 크기, 편향만 제거 — 남은 여지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A1A"/>
                          </a:solidFill>
                          <a:latin typeface="맑은 고딕"/>
                        </a:rPr>
                        <a:t>완전 예측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A1A"/>
                          </a:solidFill>
                          <a:latin typeface="맑은 고딕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A1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93192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■ '처참' 까지는 아니지만 좋다고 말할 수도 없다 — 상한의 68% 지점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■ 사건 단위로 보면 186 사건 중 168 포착(사건 recall 0.903). 스텝 F1 과 다른 질문에 답한다 — 섞지 않는다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■ ROC-AUC 0.934 는 발생률 5.96% 에서 과대평가된다. 성능 근거로 쓰지 않는다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■ 다음: 피크 편향 직접 제거(높은 분위 점예측 / 비대칭 손실) · 사건 단위 임계 최적화 — 사전 채택조건 선언 후 검정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제3장 · 오류분석 — 어디서 잘 되고 어디서 깨지는가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전체 평균이 아니라 조건별로 쪼갠다 (h60)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63040"/>
          <a:ext cx="1060704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  <a:gridCol w="1767840"/>
                <a:gridCol w="1767840"/>
                <a:gridCol w="1767840"/>
              </a:tblGrid>
              <a:tr h="30175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표본 수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A0 MAE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A5 MAE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A0 전체대비 배율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A5 전체대비 배율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12~18시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4,995.000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10.237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8.242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1.083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고사용량 구간만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1,135.000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17.468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12.972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1.848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1.612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급변동 상위10%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2,000.000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10.495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9.419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1.171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비가동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7,988.000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9.198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6.828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0.973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0.849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재가동 1시간 이내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561.000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10.737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9.514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1.182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전체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19,980.000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9.454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8.047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1.000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1.000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주말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5,756.000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10.127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6.940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0.862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6263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맑은 고딕"/>
              </a:rPr>
              <a:t>가장 취약한 조건은 고사용량 구간 자체(전체의 1.85배 → 1.61배). A5 는 모든 조건에서 오차를 낮췄고, 비가동·주말에서 특히 크게 줄였다(휴무·재가동 특성 효과).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제3장 · OOD — '포기 신호' 가 아니라 '취약조건 지도'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처음 보는 입력 조합(마할라노비스 거리, TRAIN p99 컷)을 어떻게 쓸 것인가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63040"/>
          <a:ext cx="4206240" cy="3319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080"/>
                <a:gridCol w="1402080"/>
                <a:gridCol w="140208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거리 십분위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평균 거리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MAE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6.440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4.010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7.940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4.720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7.610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5.410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8.130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6.110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6.920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7.760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7.910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9.370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7.910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11.670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8.860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23.240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10.100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120640" y="1554480"/>
            <a:ext cx="6583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  <a:latin typeface="맑은 고딕"/>
              </a:rPr>
              <a:t>■ ① 지시력은 있다 — 거리 최하위 십분위 MAE 6.44 → 최상위 10.10 kw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  <a:latin typeface="맑은 고딕"/>
              </a:rPr>
              <a:t>■ ② 그러나 포기 기준으로 쓰기엔 약하다 — OOD 판정은 전체의 0.8%뿐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  <a:latin typeface="맑은 고딕"/>
              </a:rPr>
              <a:t>■ ③ 답은 '모델을 좋게 만드는 것' 이었다</a:t>
            </a:r>
          </a:p>
          <a:p>
            <a:pPr lvl="1">
              <a:spcAft>
                <a:spcPts val="500"/>
              </a:spcAft>
            </a:pPr>
            <a:r>
              <a:rPr sz="1250" b="0">
                <a:solidFill>
                  <a:srgbClr val="555A60"/>
                </a:solidFill>
                <a:latin typeface="맑은 고딕"/>
              </a:rPr>
              <a:t>– OOD 구간 MAE / 정상 구간 MAE = 1.69(A0) → 1.55(A5)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  <a:latin typeface="맑은 고딕"/>
              </a:rPr>
              <a:t>■ ④ OOD 구간을 일부러 더 보게 가중(A6)하면 오히려 악화 — 기각</a:t>
            </a:r>
          </a:p>
          <a:p>
            <a:pPr lvl="1">
              <a:spcAft>
                <a:spcPts val="500"/>
              </a:spcAft>
            </a:pPr>
            <a:r>
              <a:rPr sz="1250" b="0">
                <a:solidFill>
                  <a:srgbClr val="555A60"/>
                </a:solidFill>
                <a:latin typeface="맑은 고딕"/>
              </a:rPr>
              <a:t>– OOD 구간 MAE 차 +1.099 kw, 95% CI [0.017, 2.541] (0 미포함, 악화 방향)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263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0392B"/>
                </a:solidFill>
                <a:latin typeface="맑은 고딕"/>
              </a:rPr>
              <a:t>결론: OOD 는 '어디가 약한지' 를 보여주는 진단 도구다. 그 구간을 피하거나 억지로 가중하는 것은 검증 결과 효과가 없었다. 공개한다.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제4장 · 현장 활용 — 사건당 한 번, 남은 준비시간과 함께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선행시간이 제도적으로 의미 있는 길이여야 한다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63040"/>
          <a:ext cx="109728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선행(분)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제도·문헌 근거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본 시스템에서의 역할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한전 수요시한(디멘드 타임) 15분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기존 제어기가 이미 커버하는 구간. h15 는 '기존 수준 재현' 비교군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KPX 수요자원 거래시장 감축요청 통보 리드타임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h60 = 제도상 표준 통보 리드타임과 일치. 본 시스템의 주 호라이즌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KPX 추가 감축요청 여유(30분)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minimum_lead_minutes=30 의 근거. 이보다 짧으면 제도적 조치 창이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산업 수요관리 스케줄링의 표준 시간슬롯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30분 하한의 문헌적 보강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4048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  <a:latin typeface="맑은 고딕"/>
              </a:rPr>
              <a:t>■ 알림 설계: 다단계 경보를 성과로 내세우지 않는다. 사건당 1건, 내용은 세 가지뿐</a:t>
            </a:r>
          </a:p>
          <a:p>
            <a:pPr lvl="1">
              <a:spcAft>
                <a:spcPts val="500"/>
              </a:spcAft>
            </a:pPr>
            <a:r>
              <a:rPr sz="1250" b="0">
                <a:solidFill>
                  <a:srgbClr val="555A60"/>
                </a:solidFill>
                <a:latin typeface="맑은 고딕"/>
              </a:rPr>
              <a:t>– ① 고사용량이 처음 시작될 것으로 보이는 시각  ② 지금부터 남은 준비시간(분)  ③ 확신도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  <a:latin typeface="맑은 고딕"/>
              </a:rPr>
              <a:t>■ 근거는 UI 가 아니라 수치다 — 제때 잡은 사건 수, 헛경고로 생기는 확인 부담(분/일)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263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맑은 고딕"/>
              </a:rPr>
              <a:t>설비 단위 조치나 고장 심각도 순위는 제시하지 않는다. 설비 식별자·고장 이력이 데이터에 없다.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제5장 · 차별성 — 성능·오류분석과 연결되는 것만 주장한다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  <a:latin typeface="맑은 고딕"/>
              </a:rPr>
              <a:t>■ ① 데이터 자체의 결함을 찾아 평가 설계로 연결했다</a:t>
            </a:r>
          </a:p>
          <a:p>
            <a:pPr lvl="1">
              <a:spcAft>
                <a:spcPts val="500"/>
              </a:spcAft>
            </a:pPr>
            <a:r>
              <a:rPr sz="1250" b="0">
                <a:solidFill>
                  <a:srgbClr val="555A60"/>
                </a:solidFill>
                <a:latin typeface="맑은 고딕"/>
              </a:rPr>
              <a:t>– 합성 중복일 160일(45그룹)이 fold 0·2 의 TRAIN/TEST 에 걸쳐 있음을 확인 → 주 보고 구간을 clean 으로 고정. 부풀려진 성능을 쓰지 않았다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  <a:latin typeface="맑은 고딕"/>
              </a:rPr>
              <a:t>■ ② 라벨 정의를 과금 제도에 묶었다</a:t>
            </a:r>
          </a:p>
          <a:p>
            <a:pPr lvl="1">
              <a:spcAft>
                <a:spcPts val="500"/>
              </a:spcAft>
            </a:pPr>
            <a:r>
              <a:rPr sz="1250" b="0">
                <a:solidFill>
                  <a:srgbClr val="555A60"/>
                </a:solidFill>
                <a:latin typeface="맑은 고딕"/>
              </a:rPr>
              <a:t>– 15분 = 요금적용전력 측정 단위, 30일 = 검침월. p95 가 모델링 선택임을 숨기지 않고 민감도표로 공개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  <a:latin typeface="맑은 고딕"/>
              </a:rPr>
              <a:t>■ ③ 고사용량 구간을 직접 겨냥한 학습으로 그 구간 오차를 네 호라이즌 모두 25% 안팎 줄였다</a:t>
            </a:r>
          </a:p>
          <a:p>
            <a:pPr lvl="1">
              <a:spcAft>
                <a:spcPts val="500"/>
              </a:spcAft>
            </a:pPr>
            <a:r>
              <a:rPr sz="1250" b="0">
                <a:solidFill>
                  <a:srgbClr val="555A60"/>
                </a:solidFill>
                <a:latin typeface="맑은 고딕"/>
              </a:rPr>
              <a:t>– h60 고사용량 MAE 20.88 → 15.65 kw. 블록 부트스트랩 CI 로 유의성 확인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  <a:latin typeface="맑은 고딕"/>
              </a:rPr>
              <a:t>■ ④ 실패한 시도를 지웠다가 아니라 남겼다</a:t>
            </a:r>
          </a:p>
          <a:p>
            <a:pPr lvl="1">
              <a:spcAft>
                <a:spcPts val="500"/>
              </a:spcAft>
            </a:pPr>
            <a:r>
              <a:rPr sz="1250" b="0">
                <a:solidFill>
                  <a:srgbClr val="555A60"/>
                </a:solidFill>
                <a:latin typeface="맑은 고딕"/>
              </a:rPr>
              <a:t>– 운전상태 3분할 모델(V4) 기각 · 2단계 경보 우위 주장 철회 · OOD 가중(A6) 기각 · 외부 공공데이터 게이트 0/20 선택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제6장 · 재현성 · 그리고 아직 주장할 수 없는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명령 한 줄로 전처리→학습→추론→결과 생성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python3 analysis/final_baseline/run_baseline.py   (seed 20260926 고정, CPU 전용)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학습/추론 분리 — joblib 아티팩트 + inference.py 로 학습 코드 없이 예측 생성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requirements.txt · README · 수용테스트 포함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아직 검증되지 않아 주장하지 않는 것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절감액(원) — 계약전력·요금 조건 미확인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설비 단위 원인·조치 — 설비 식별자 없음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고사용량 구간 예측구간 적중률 0.234 — 목표 0.90 에 크게 미달. 공개하고 다음 과제로 둔다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최초 시작 시각 예측 — 설계만 있고 검증 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F5C99"/>
                </a:solidFill>
                <a:latin typeface="맑은 고딕"/>
              </a:rPr>
              <a:t>모든 수치는 analysis/tables/*.csv 에서 직접 읽어 이 장표를 생성했다. 손으로 옮겨 적지 않았다.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부록 · 예측값과 보정된 예측구간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analysis/figures/23_baseline_fig2_forecast_interval.png</a:t>
            </a:r>
          </a:p>
        </p:txBody>
      </p:sp>
      <p:pic>
        <p:nvPicPr>
          <p:cNvPr id="5" name="Picture 4" descr="23_baseline_fig2_forecast_inter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105156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부록 · 신뢰도 밴드별 오차 분포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analysis/figures/23_baseline_fig3_reliability_bands.png</a:t>
            </a:r>
          </a:p>
        </p:txBody>
      </p:sp>
      <p:pic>
        <p:nvPicPr>
          <p:cNvPr id="5" name="Picture 4" descr="23_baseline_fig3_reliability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10515600" cy="54419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부록 · 평가 전용 30일 실측·예측·미탐·오경보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analysis/figures/30_timeseries_fn_fp.png</a:t>
            </a:r>
          </a:p>
        </p:txBody>
      </p:sp>
      <p:pic>
        <p:nvPicPr>
          <p:cNvPr id="5" name="Picture 4" descr="30_timeseries_fn_f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10515600" cy="558871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부록 · 운전상태별 경고 성능(분모 병기)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analysis/figures/30_fnfp_by_state.png</a:t>
            </a:r>
          </a:p>
        </p:txBody>
      </p:sp>
      <p:pic>
        <p:nvPicPr>
          <p:cNvPr id="5" name="Picture 4" descr="30_fnfp_by_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10515600" cy="307806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부록 · 고사용량 초과확률의 보정 곡선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analysis/figures/28_peak_probability.png</a:t>
            </a:r>
          </a:p>
        </p:txBody>
      </p:sp>
      <p:pic>
        <p:nvPicPr>
          <p:cNvPr id="5" name="Picture 4" descr="28_peak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10515600" cy="36415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